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28"/>
  </p:notesMasterIdLst>
  <p:sldIdLst>
    <p:sldId id="343" r:id="rId2"/>
    <p:sldId id="370" r:id="rId3"/>
    <p:sldId id="409" r:id="rId4"/>
    <p:sldId id="411" r:id="rId5"/>
    <p:sldId id="410" r:id="rId6"/>
    <p:sldId id="412" r:id="rId7"/>
    <p:sldId id="413" r:id="rId8"/>
    <p:sldId id="416" r:id="rId9"/>
    <p:sldId id="418" r:id="rId10"/>
    <p:sldId id="415" r:id="rId11"/>
    <p:sldId id="417" r:id="rId12"/>
    <p:sldId id="419" r:id="rId13"/>
    <p:sldId id="420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21" r:id="rId25"/>
    <p:sldId id="422" r:id="rId26"/>
    <p:sldId id="279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79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1197" y="552678"/>
            <a:ext cx="6064897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Otros Algoritmos ML</a:t>
            </a:r>
          </a:p>
        </p:txBody>
      </p:sp>
      <p:sp>
        <p:nvSpPr>
          <p:cNvPr id="4" name="Text 2"/>
          <p:cNvSpPr/>
          <p:nvPr/>
        </p:nvSpPr>
        <p:spPr>
          <a:xfrm>
            <a:off x="3835243" y="2861304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s-CO" sz="105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72799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CO" dirty="0" smtClean="0"/>
          </a:p>
          <a:p>
            <a:r>
              <a:rPr lang="es-CO" sz="2000" dirty="0" smtClean="0"/>
              <a:t>Son muchos los modelos de ML que se pueden obtener con base en </a:t>
            </a:r>
            <a:r>
              <a:rPr lang="es-CO" sz="2000" dirty="0" err="1" smtClean="0"/>
              <a:t>RNAs</a:t>
            </a:r>
            <a:r>
              <a:rPr lang="es-CO" sz="2000" dirty="0" smtClean="0"/>
              <a:t>.</a:t>
            </a:r>
          </a:p>
          <a:p>
            <a:r>
              <a:rPr lang="es-CO" sz="2000" dirty="0" smtClean="0"/>
              <a:t>Aunque hay muchos algoritmos, no basados en </a:t>
            </a:r>
            <a:r>
              <a:rPr lang="es-CO" sz="2000" dirty="0" err="1" smtClean="0"/>
              <a:t>RNAs</a:t>
            </a:r>
            <a:r>
              <a:rPr lang="es-CO" sz="2000" dirty="0" smtClean="0"/>
              <a:t>  </a:t>
            </a:r>
          </a:p>
          <a:p>
            <a:pPr lvl="1"/>
            <a:r>
              <a:rPr lang="es-CO" sz="1400"/>
              <a:t>V</a:t>
            </a:r>
            <a:r>
              <a:rPr lang="es-CO" sz="1400" smtClean="0"/>
              <a:t>ecinos </a:t>
            </a:r>
            <a:r>
              <a:rPr lang="es-CO" sz="1400" smtClean="0"/>
              <a:t>K-NN</a:t>
            </a:r>
            <a:endParaRPr lang="es-CO" sz="1400" dirty="0"/>
          </a:p>
          <a:p>
            <a:pPr lvl="1"/>
            <a:r>
              <a:rPr lang="es-CO" sz="1400" dirty="0"/>
              <a:t>SVM</a:t>
            </a:r>
          </a:p>
          <a:p>
            <a:pPr lvl="1"/>
            <a:r>
              <a:rPr lang="es-CO" sz="1400" dirty="0"/>
              <a:t>Arboles de decisión</a:t>
            </a:r>
          </a:p>
          <a:p>
            <a:pPr lvl="1"/>
            <a:r>
              <a:rPr lang="es-CO" sz="1400" dirty="0" err="1" smtClean="0"/>
              <a:t>Bayes</a:t>
            </a:r>
            <a:r>
              <a:rPr lang="es-CO" sz="1400" dirty="0" smtClean="0"/>
              <a:t> </a:t>
            </a:r>
            <a:r>
              <a:rPr lang="es-CO" sz="1400" dirty="0" err="1" smtClean="0"/>
              <a:t>naive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39663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/>
              <a:t>A</a:t>
            </a:r>
            <a:r>
              <a:rPr lang="es-CO" sz="1800" dirty="0" smtClean="0"/>
              <a:t>lgoritmo simple de aprendizaje supervisado para ML</a:t>
            </a:r>
          </a:p>
          <a:p>
            <a:r>
              <a:rPr lang="es-CO" sz="1800" dirty="0" smtClean="0"/>
              <a:t>Clasifica una instancia de datos considerando cómo están clasificados sus vecinos. </a:t>
            </a:r>
          </a:p>
          <a:p>
            <a:r>
              <a:rPr lang="es-CO" sz="1800" dirty="0" smtClean="0"/>
              <a:t>Supone que hay </a:t>
            </a:r>
            <a:r>
              <a:rPr lang="es-CO" sz="1800" dirty="0" err="1" smtClean="0"/>
              <a:t>similaridad</a:t>
            </a:r>
            <a:r>
              <a:rPr lang="es-CO" sz="1800" dirty="0" smtClean="0"/>
              <a:t> entre el nuevo dato que se va a clasificar y los casos disponibles en el </a:t>
            </a:r>
            <a:r>
              <a:rPr lang="es-CO" sz="1800" dirty="0" err="1" smtClean="0"/>
              <a:t>Dataset</a:t>
            </a:r>
            <a:r>
              <a:rPr lang="es-CO" sz="1800" dirty="0" smtClean="0"/>
              <a:t>.</a:t>
            </a:r>
          </a:p>
          <a:p>
            <a:r>
              <a:rPr lang="es-CO" sz="1800" dirty="0" smtClean="0"/>
              <a:t>Es un algoritmo no paramétrico, no hace ninguna suposición sobre los datos.</a:t>
            </a:r>
          </a:p>
          <a:p>
            <a:r>
              <a:rPr lang="es-CO" sz="1800" dirty="0" smtClean="0"/>
              <a:t>No aprende del </a:t>
            </a:r>
            <a:r>
              <a:rPr lang="es-CO" sz="1800" dirty="0" err="1" smtClean="0"/>
              <a:t>dataset</a:t>
            </a:r>
            <a:r>
              <a:rPr lang="es-CO" sz="1800" dirty="0" smtClean="0"/>
              <a:t>, lo almacena y lo trabaja en el momento de la clasificación. </a:t>
            </a:r>
          </a:p>
        </p:txBody>
      </p:sp>
    </p:spTree>
    <p:extLst>
      <p:ext uri="{BB962C8B-B14F-4D97-AF65-F5344CB8AC3E}">
        <p14:creationId xmlns:p14="http://schemas.microsoft.com/office/powerpoint/2010/main" val="352395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Porque necesitamos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Suponga dos categorías A y B; y tenemos un nuevo punto de datos X1, que ¿categoría le debemos asignar? Necesitamos un algoritmo K-NN, que nos permita identificar a que clase </a:t>
            </a:r>
            <a:r>
              <a:rPr lang="es-CO" sz="1800" dirty="0"/>
              <a:t>p</a:t>
            </a:r>
            <a:r>
              <a:rPr lang="es-CO" sz="1800" dirty="0" smtClean="0"/>
              <a:t>ertenece.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776" y="2779614"/>
            <a:ext cx="49339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6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Como se escoge K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K-NN, se basa en la </a:t>
            </a:r>
            <a:r>
              <a:rPr lang="es-CO" sz="1800" dirty="0" err="1" smtClean="0"/>
              <a:t>similaridad</a:t>
            </a:r>
            <a:r>
              <a:rPr lang="es-CO" sz="1800" dirty="0" smtClean="0"/>
              <a:t> de las características. La escogencia de K es importante para una buena precisión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2" y="2763837"/>
            <a:ext cx="1200420" cy="124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0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Como se escoge K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s-CO" sz="1800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251" y="1955231"/>
            <a:ext cx="26670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8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Cuando se puede usar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K-NN se puede usar tanto para clasificación como para predicción. Sin embargo, se usa con mayor frecuencia en problemas de clasificación.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647" y="2486025"/>
            <a:ext cx="46672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3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Cómo trabaja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K-NN se puede usar tanto para clasificación como para predicción</a:t>
            </a:r>
            <a:endParaRPr lang="es-CO" sz="1800" dirty="0"/>
          </a:p>
          <a:p>
            <a:pPr marL="642938" lvl="1" indent="-342900">
              <a:buFont typeface="+mj-lt"/>
              <a:buAutoNum type="arabicPeriod"/>
            </a:pPr>
            <a:r>
              <a:rPr lang="es-CO" sz="1650" dirty="0" smtClean="0"/>
              <a:t>Selecciona el número de vecinos</a:t>
            </a:r>
          </a:p>
          <a:p>
            <a:pPr marL="642938" lvl="1" indent="-342900">
              <a:buFont typeface="+mj-lt"/>
              <a:buAutoNum type="arabicPeriod"/>
            </a:pPr>
            <a:r>
              <a:rPr lang="es-CO" sz="1650" dirty="0" smtClean="0"/>
              <a:t>Calcula la distancia euclidiana de K número de vecinos</a:t>
            </a:r>
          </a:p>
          <a:p>
            <a:pPr marL="642938" lvl="1" indent="-342900">
              <a:buFont typeface="+mj-lt"/>
              <a:buAutoNum type="arabicPeriod"/>
            </a:pPr>
            <a:r>
              <a:rPr lang="es-CO" sz="1650" dirty="0" smtClean="0"/>
              <a:t>Toma los vecinos más cercanos con esa distancia</a:t>
            </a:r>
          </a:p>
          <a:p>
            <a:pPr marL="642938" lvl="1" indent="-342900">
              <a:buFont typeface="+mj-lt"/>
              <a:buAutoNum type="arabicPeriod"/>
            </a:pPr>
            <a:r>
              <a:rPr lang="es-CO" sz="1650" dirty="0" smtClean="0"/>
              <a:t>Cuenta el número de vecinos en esa categoría </a:t>
            </a:r>
          </a:p>
          <a:p>
            <a:pPr marL="642938" lvl="1" indent="-342900">
              <a:buFont typeface="+mj-lt"/>
              <a:buAutoNum type="arabicPeriod"/>
            </a:pPr>
            <a:r>
              <a:rPr lang="es-CO" sz="1650" dirty="0" smtClean="0"/>
              <a:t>Asigna el nuevo dato a la categoría con el máximo número de vecinos</a:t>
            </a:r>
          </a:p>
          <a:p>
            <a:pPr marL="0" indent="0">
              <a:buNone/>
            </a:pPr>
            <a:endParaRPr lang="es-CO" sz="1800" dirty="0" smtClean="0"/>
          </a:p>
        </p:txBody>
      </p:sp>
    </p:spTree>
    <p:extLst>
      <p:ext uri="{BB962C8B-B14F-4D97-AF65-F5344CB8AC3E}">
        <p14:creationId xmlns:p14="http://schemas.microsoft.com/office/powerpoint/2010/main" val="175064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Cómo trabaja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Suponga que llega un nuevo dato y queremos clasificarlo. </a:t>
            </a:r>
            <a:endParaRPr lang="es-CO" sz="1650" dirty="0" smtClean="0"/>
          </a:p>
          <a:p>
            <a:pPr marL="0" indent="0">
              <a:buNone/>
            </a:pPr>
            <a:endParaRPr lang="es-CO" sz="1800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013" y="2246214"/>
            <a:ext cx="41814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8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Cómo trabaja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Con la distancia obtenemos los vecinos más cercanos.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15" y="2102147"/>
            <a:ext cx="37338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3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Cómo trabaja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K = 5, Calculamos la distancia entre los puntos. a que llega un nuevo dato y queremos clasificarlo. </a:t>
            </a:r>
            <a:endParaRPr lang="es-CO" sz="1650" dirty="0" smtClean="0"/>
          </a:p>
          <a:p>
            <a:pPr marL="0" indent="0">
              <a:buNone/>
            </a:pPr>
            <a:endParaRPr lang="es-CO" sz="1800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30" y="2303364"/>
            <a:ext cx="46291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7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Ejemplo, K = 3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608" y="1620838"/>
            <a:ext cx="3025621" cy="290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Ejemplo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s-CO" sz="1800" dirty="0" smtClean="0"/>
          </a:p>
          <a:p>
            <a:endParaRPr lang="es-CO" sz="1800" dirty="0"/>
          </a:p>
          <a:p>
            <a:endParaRPr lang="es-CO" sz="1800" dirty="0" smtClean="0"/>
          </a:p>
          <a:p>
            <a:endParaRPr lang="es-CO" sz="1800" dirty="0"/>
          </a:p>
          <a:p>
            <a:endParaRPr lang="es-CO" sz="1800" dirty="0" smtClean="0"/>
          </a:p>
          <a:p>
            <a:endParaRPr lang="es-CO" sz="1800" dirty="0"/>
          </a:p>
          <a:p>
            <a:r>
              <a:rPr lang="es-CO" sz="1800" dirty="0" smtClean="0"/>
              <a:t>El sujeto con 170cm y 50kg es normal</a:t>
            </a:r>
          </a:p>
          <a:p>
            <a:endParaRPr lang="es-CO" sz="1800" dirty="0"/>
          </a:p>
          <a:p>
            <a:endParaRPr lang="es-CO" sz="1800" dirty="0" smtClean="0"/>
          </a:p>
          <a:p>
            <a:endParaRPr lang="es-CO" sz="1800" dirty="0"/>
          </a:p>
          <a:p>
            <a:endParaRPr lang="es-CO" sz="1800" dirty="0" smtClean="0"/>
          </a:p>
          <a:p>
            <a:endParaRPr lang="es-CO" sz="1800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002" y="1950737"/>
            <a:ext cx="253365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5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 SVM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/>
              <a:t>“</a:t>
            </a:r>
            <a:r>
              <a:rPr lang="es-CO" sz="1800" dirty="0" err="1"/>
              <a:t>Support</a:t>
            </a:r>
            <a:r>
              <a:rPr lang="es-CO" sz="1800" dirty="0"/>
              <a:t> Vector </a:t>
            </a:r>
            <a:r>
              <a:rPr lang="es-CO" sz="1800" dirty="0" smtClean="0"/>
              <a:t>Machine” SVM es un algoritmo de aprendizaje supervisado para ML</a:t>
            </a:r>
          </a:p>
          <a:p>
            <a:r>
              <a:rPr lang="es-CO" sz="1800" dirty="0"/>
              <a:t>S</a:t>
            </a:r>
            <a:r>
              <a:rPr lang="es-CO" sz="1800" dirty="0" smtClean="0"/>
              <a:t>e puede usar para problemas tanto de clasificación como de regresión, aunque más para clasificación</a:t>
            </a:r>
          </a:p>
          <a:p>
            <a:r>
              <a:rPr lang="es-CO" sz="1800" dirty="0" smtClean="0"/>
              <a:t>Se dibuja cada punto de datos en un espacio n-dimensional donde cada característica es el valor de una coordenada</a:t>
            </a:r>
          </a:p>
          <a:p>
            <a:r>
              <a:rPr lang="es-CO" sz="1800" dirty="0" smtClean="0"/>
              <a:t>SVM construye un </a:t>
            </a:r>
            <a:r>
              <a:rPr lang="es-CO" sz="1800" dirty="0" err="1" smtClean="0"/>
              <a:t>hiperplano</a:t>
            </a:r>
            <a:r>
              <a:rPr lang="es-CO" sz="1800" dirty="0" smtClean="0"/>
              <a:t> en un espacio multidimensional para separar diferentes clases</a:t>
            </a:r>
          </a:p>
        </p:txBody>
      </p:sp>
    </p:spTree>
    <p:extLst>
      <p:ext uri="{BB962C8B-B14F-4D97-AF65-F5344CB8AC3E}">
        <p14:creationId xmlns:p14="http://schemas.microsoft.com/office/powerpoint/2010/main" val="177003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chemeClr val="accent2">
                    <a:lumMod val="75000"/>
                  </a:schemeClr>
                </a:solidFill>
              </a:rPr>
              <a:t>Introducción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s-CO" sz="1800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10" y="2228456"/>
            <a:ext cx="4960188" cy="259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4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 SVM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Vectores de soporte</a:t>
            </a:r>
          </a:p>
          <a:p>
            <a:pPr lvl="1"/>
            <a:r>
              <a:rPr lang="es-CO" sz="1650" dirty="0" smtClean="0"/>
              <a:t>Son los puntos de datos más cercanos al </a:t>
            </a:r>
            <a:r>
              <a:rPr lang="es-CO" sz="1650" dirty="0" err="1" smtClean="0"/>
              <a:t>hiperplano</a:t>
            </a:r>
            <a:endParaRPr lang="es-CO" sz="1650" dirty="0" smtClean="0"/>
          </a:p>
          <a:p>
            <a:pPr lvl="1"/>
            <a:r>
              <a:rPr lang="es-CO" sz="1650" dirty="0" smtClean="0"/>
              <a:t>Definen la mejor línea de separación calculando márgenes</a:t>
            </a:r>
          </a:p>
          <a:p>
            <a:pPr lvl="1"/>
            <a:r>
              <a:rPr lang="es-CO" sz="1650" dirty="0" smtClean="0"/>
              <a:t>Son los puntos más importantes para la construcción del SVM</a:t>
            </a:r>
          </a:p>
          <a:p>
            <a:r>
              <a:rPr lang="es-CO" sz="1800" dirty="0" err="1" smtClean="0"/>
              <a:t>Hiperplano</a:t>
            </a:r>
            <a:endParaRPr lang="es-CO" sz="1800" dirty="0" smtClean="0"/>
          </a:p>
          <a:p>
            <a:pPr lvl="1"/>
            <a:r>
              <a:rPr lang="es-CO" sz="1650" dirty="0" smtClean="0"/>
              <a:t>Es un </a:t>
            </a:r>
            <a:r>
              <a:rPr lang="es-CO" sz="1650" dirty="0" err="1" smtClean="0"/>
              <a:t>hiperplano</a:t>
            </a:r>
            <a:r>
              <a:rPr lang="es-CO" sz="1650" dirty="0" smtClean="0"/>
              <a:t> de decisión que separa dos conjuntos de objetos que pertenecen a dos clases diferentes. </a:t>
            </a:r>
          </a:p>
        </p:txBody>
      </p:sp>
    </p:spTree>
    <p:extLst>
      <p:ext uri="{BB962C8B-B14F-4D97-AF65-F5344CB8AC3E}">
        <p14:creationId xmlns:p14="http://schemas.microsoft.com/office/powerpoint/2010/main" val="422175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 SVM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Margen</a:t>
            </a:r>
          </a:p>
          <a:p>
            <a:pPr lvl="1"/>
            <a:r>
              <a:rPr lang="es-CO" sz="1500" dirty="0" smtClean="0"/>
              <a:t>Es un espacio entre dos líneas entre los puntos más cercanos</a:t>
            </a:r>
          </a:p>
          <a:p>
            <a:pPr lvl="1"/>
            <a:r>
              <a:rPr lang="es-CO" sz="1500" dirty="0" smtClean="0"/>
              <a:t>Se calcula como la distancia perpendicular desde la línea a los vectores de soporte o puntos más cercanos</a:t>
            </a:r>
          </a:p>
          <a:p>
            <a:pPr lvl="1"/>
            <a:r>
              <a:rPr lang="es-CO" sz="1500" dirty="0" smtClean="0"/>
              <a:t>Si el margen es pequeño, no es un buen margen</a:t>
            </a:r>
          </a:p>
          <a:p>
            <a:pPr lvl="1"/>
            <a:r>
              <a:rPr lang="es-CO" sz="1500" dirty="0" smtClean="0"/>
              <a:t>Si el margen es grande entre las clases se considera un buen margen</a:t>
            </a:r>
            <a:endParaRPr lang="es-CO" sz="1650" dirty="0" smtClean="0"/>
          </a:p>
        </p:txBody>
      </p:sp>
    </p:spTree>
    <p:extLst>
      <p:ext uri="{BB962C8B-B14F-4D97-AF65-F5344CB8AC3E}">
        <p14:creationId xmlns:p14="http://schemas.microsoft.com/office/powerpoint/2010/main" val="345588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Introducción SVM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50" y="1620838"/>
            <a:ext cx="5948937" cy="2909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35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Cómo funciona SVM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El objetivo es seleccionar un </a:t>
            </a:r>
            <a:r>
              <a:rPr lang="es-CO" sz="1800" dirty="0" err="1" smtClean="0"/>
              <a:t>hiperplano</a:t>
            </a:r>
            <a:r>
              <a:rPr lang="es-CO" sz="1800" dirty="0" smtClean="0"/>
              <a:t> con la margen máxima posible entre los vectores de soporte de un </a:t>
            </a:r>
            <a:r>
              <a:rPr lang="es-CO" sz="1800" dirty="0" err="1" smtClean="0"/>
              <a:t>dataset</a:t>
            </a:r>
            <a:r>
              <a:rPr lang="es-CO" sz="1800" dirty="0" smtClean="0"/>
              <a:t> dado.</a:t>
            </a:r>
          </a:p>
          <a:p>
            <a:pPr lvl="1"/>
            <a:r>
              <a:rPr lang="es-CO" sz="1650" dirty="0" smtClean="0"/>
              <a:t>SVM busca el </a:t>
            </a:r>
            <a:r>
              <a:rPr lang="es-CO" sz="1650" dirty="0" err="1" smtClean="0"/>
              <a:t>hiperplano</a:t>
            </a:r>
            <a:r>
              <a:rPr lang="es-CO" sz="1650" dirty="0" smtClean="0"/>
              <a:t> con el margen máximo:</a:t>
            </a:r>
          </a:p>
          <a:p>
            <a:pPr lvl="1"/>
            <a:r>
              <a:rPr lang="es-CO" sz="1650" dirty="0" smtClean="0"/>
              <a:t>Generando </a:t>
            </a:r>
            <a:r>
              <a:rPr lang="es-CO" sz="1650" dirty="0" err="1" smtClean="0"/>
              <a:t>hiperplanos</a:t>
            </a:r>
            <a:r>
              <a:rPr lang="es-CO" sz="1650" dirty="0" smtClean="0"/>
              <a:t> que segregan las clases de la mejor forma</a:t>
            </a:r>
          </a:p>
          <a:p>
            <a:pPr lvl="1"/>
            <a:r>
              <a:rPr lang="es-CO" sz="1650" dirty="0" smtClean="0"/>
              <a:t>Selecciona el </a:t>
            </a:r>
            <a:r>
              <a:rPr lang="es-CO" sz="1650" dirty="0" err="1" smtClean="0"/>
              <a:t>hiperplano</a:t>
            </a:r>
            <a:r>
              <a:rPr lang="es-CO" sz="1650" dirty="0" smtClean="0"/>
              <a:t> correcto con la máxima segregación entre los puntos más cercanos</a:t>
            </a:r>
          </a:p>
        </p:txBody>
      </p:sp>
    </p:spTree>
    <p:extLst>
      <p:ext uri="{BB962C8B-B14F-4D97-AF65-F5344CB8AC3E}">
        <p14:creationId xmlns:p14="http://schemas.microsoft.com/office/powerpoint/2010/main" val="291316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Cómo funciona SVM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0" y="1854002"/>
            <a:ext cx="6446838" cy="244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8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Planos no-lineales y no separables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Algunos problemas no se pueden solucionar usando </a:t>
            </a:r>
            <a:r>
              <a:rPr lang="es-CO" sz="1800" dirty="0" err="1" smtClean="0"/>
              <a:t>hiperplanos</a:t>
            </a:r>
            <a:r>
              <a:rPr lang="es-CO" sz="1800" dirty="0" smtClean="0"/>
              <a:t> lineales</a:t>
            </a:r>
          </a:p>
          <a:p>
            <a:r>
              <a:rPr lang="es-CO" sz="1800" dirty="0" smtClean="0"/>
              <a:t>Para eso se transforma el espacio de entrada en un espacio dimensional más grande, usando un </a:t>
            </a:r>
            <a:r>
              <a:rPr lang="es-CO" sz="1800" dirty="0" err="1" smtClean="0"/>
              <a:t>kernel</a:t>
            </a:r>
            <a:endParaRPr lang="es-CO" sz="1800" dirty="0" smtClean="0"/>
          </a:p>
          <a:p>
            <a:r>
              <a:rPr lang="es-CO" sz="1800" dirty="0" smtClean="0"/>
              <a:t>Los puntos se dibujan en los ejes x y z, donde z = x</a:t>
            </a:r>
            <a:r>
              <a:rPr lang="es-CO" sz="1800" baseline="30000" dirty="0" smtClean="0"/>
              <a:t>2</a:t>
            </a:r>
            <a:r>
              <a:rPr lang="es-CO" sz="1800" dirty="0" smtClean="0"/>
              <a:t> + y</a:t>
            </a:r>
            <a:r>
              <a:rPr lang="es-CO" sz="1800" baseline="30000" dirty="0" smtClean="0"/>
              <a:t>2</a:t>
            </a:r>
          </a:p>
          <a:p>
            <a:r>
              <a:rPr lang="es-CO" sz="1800" dirty="0" smtClean="0"/>
              <a:t>Ahora </a:t>
            </a:r>
            <a:r>
              <a:rPr lang="es-CO" sz="1800" dirty="0"/>
              <a:t>se pueden segregar fácilmente estos puntos usando </a:t>
            </a:r>
            <a:r>
              <a:rPr lang="es-CO" sz="1800" dirty="0" smtClean="0"/>
              <a:t>separación </a:t>
            </a:r>
            <a:r>
              <a:rPr lang="es-CO" sz="1800" dirty="0"/>
              <a:t>lineal </a:t>
            </a:r>
          </a:p>
        </p:txBody>
      </p:sp>
    </p:spTree>
    <p:extLst>
      <p:ext uri="{BB962C8B-B14F-4D97-AF65-F5344CB8AC3E}">
        <p14:creationId xmlns:p14="http://schemas.microsoft.com/office/powerpoint/2010/main" val="60306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Tipos de </a:t>
            </a:r>
            <a:r>
              <a:rPr lang="es-CO" b="1" dirty="0" err="1" smtClean="0">
                <a:solidFill>
                  <a:schemeClr val="accent2">
                    <a:lumMod val="75000"/>
                  </a:schemeClr>
                </a:solidFill>
              </a:rPr>
              <a:t>kernel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err="1" smtClean="0"/>
              <a:t>Kernel</a:t>
            </a:r>
            <a:r>
              <a:rPr lang="es-CO" sz="1800" dirty="0" smtClean="0"/>
              <a:t> lineal</a:t>
            </a:r>
          </a:p>
          <a:p>
            <a:r>
              <a:rPr lang="es-CO" sz="1800" dirty="0" err="1" smtClean="0"/>
              <a:t>Kernel</a:t>
            </a:r>
            <a:r>
              <a:rPr lang="es-CO" sz="1800" dirty="0" smtClean="0"/>
              <a:t> </a:t>
            </a:r>
            <a:r>
              <a:rPr lang="es-CO" sz="1800" dirty="0" err="1" smtClean="0"/>
              <a:t>polinomial</a:t>
            </a:r>
            <a:endParaRPr lang="es-CO" sz="1800" dirty="0" smtClean="0"/>
          </a:p>
          <a:p>
            <a:r>
              <a:rPr lang="es-CO" sz="1800" dirty="0" err="1" smtClean="0"/>
              <a:t>Kernel</a:t>
            </a:r>
            <a:r>
              <a:rPr lang="es-CO" sz="1800" dirty="0" smtClean="0"/>
              <a:t> con una función de base radial</a:t>
            </a:r>
          </a:p>
          <a:p>
            <a:r>
              <a:rPr lang="es-CO" sz="1800" dirty="0" err="1" smtClean="0"/>
              <a:t>Kernel</a:t>
            </a:r>
            <a:r>
              <a:rPr lang="es-CO" sz="1800" dirty="0" smtClean="0"/>
              <a:t> </a:t>
            </a:r>
            <a:r>
              <a:rPr lang="es-CO" sz="1800" dirty="0" err="1" smtClean="0"/>
              <a:t>sigmoidal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412124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Cómo funciona SVM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638" y="1673873"/>
            <a:ext cx="6673430" cy="280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7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Ventajas de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Es simple de implementar</a:t>
            </a:r>
          </a:p>
          <a:p>
            <a:r>
              <a:rPr lang="es-CO" sz="1800" dirty="0" smtClean="0"/>
              <a:t>Los costos computacionales son muy altos por el calculo de la distancia entre todos los puntos del conjunto </a:t>
            </a:r>
            <a:r>
              <a:rPr lang="es-CO" sz="1800" smtClean="0"/>
              <a:t>de entrenamiento.</a:t>
            </a:r>
            <a:endParaRPr lang="es-CO" sz="1800" dirty="0" smtClean="0"/>
          </a:p>
        </p:txBody>
      </p:sp>
    </p:spTree>
    <p:extLst>
      <p:ext uri="{BB962C8B-B14F-4D97-AF65-F5344CB8AC3E}">
        <p14:creationId xmlns:p14="http://schemas.microsoft.com/office/powerpoint/2010/main" val="274538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solidFill>
                  <a:schemeClr val="accent2">
                    <a:lumMod val="75000"/>
                  </a:schemeClr>
                </a:solidFill>
              </a:rPr>
              <a:t>Desventajas de K-NN</a:t>
            </a:r>
            <a:endParaRPr lang="es-CO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1800" dirty="0" smtClean="0"/>
              <a:t>Siempre se debe definir K</a:t>
            </a:r>
          </a:p>
          <a:p>
            <a:r>
              <a:rPr lang="es-CO" sz="1800" dirty="0" smtClean="0"/>
              <a:t>Es robusto ante datos con ruido</a:t>
            </a:r>
          </a:p>
          <a:p>
            <a:r>
              <a:rPr lang="es-CO" sz="1800" dirty="0" smtClean="0"/>
              <a:t>Mas efectivo con </a:t>
            </a:r>
            <a:r>
              <a:rPr lang="es-CO" sz="1800" dirty="0" err="1" smtClean="0"/>
              <a:t>dsatasets</a:t>
            </a:r>
            <a:r>
              <a:rPr lang="es-CO" sz="1800" dirty="0" smtClean="0"/>
              <a:t> grandes</a:t>
            </a:r>
          </a:p>
        </p:txBody>
      </p:sp>
    </p:spTree>
    <p:extLst>
      <p:ext uri="{BB962C8B-B14F-4D97-AF65-F5344CB8AC3E}">
        <p14:creationId xmlns:p14="http://schemas.microsoft.com/office/powerpoint/2010/main" val="118434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1377</TotalTime>
  <Words>695</Words>
  <Application>Microsoft Office PowerPoint</Application>
  <PresentationFormat>Presentación en pantalla (16:9)</PresentationFormat>
  <Paragraphs>96</Paragraphs>
  <Slides>26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Trebuchet MS</vt:lpstr>
      <vt:lpstr>Wingdings 3</vt:lpstr>
      <vt:lpstr>Faceta</vt:lpstr>
      <vt:lpstr>Presentación de PowerPoint</vt:lpstr>
      <vt:lpstr>Introducción</vt:lpstr>
      <vt:lpstr>Introducción K-NN</vt:lpstr>
      <vt:lpstr>Porque necesitamos K-NN</vt:lpstr>
      <vt:lpstr>Como se escoge K</vt:lpstr>
      <vt:lpstr>Como se escoge K</vt:lpstr>
      <vt:lpstr>Cuando se puede usar K-NN</vt:lpstr>
      <vt:lpstr>Cómo trabaja K-NN</vt:lpstr>
      <vt:lpstr>Cómo trabaja K-NN</vt:lpstr>
      <vt:lpstr>Cómo trabaja K-NN</vt:lpstr>
      <vt:lpstr>Cómo trabaja K-NN</vt:lpstr>
      <vt:lpstr>Ejemplo, K = 3</vt:lpstr>
      <vt:lpstr>Ejemplo</vt:lpstr>
      <vt:lpstr>Introducción SVM</vt:lpstr>
      <vt:lpstr>Introducción SVM</vt:lpstr>
      <vt:lpstr>Introducción SVM</vt:lpstr>
      <vt:lpstr>Introducción SVM</vt:lpstr>
      <vt:lpstr>Introducción SVM</vt:lpstr>
      <vt:lpstr>Cómo funciona SVM</vt:lpstr>
      <vt:lpstr>Cómo funciona SVM</vt:lpstr>
      <vt:lpstr>Planos no-lineales y no separables</vt:lpstr>
      <vt:lpstr>Tipos de kernel</vt:lpstr>
      <vt:lpstr>Cómo funciona SVM</vt:lpstr>
      <vt:lpstr>Ventajas de K-NN</vt:lpstr>
      <vt:lpstr>Desventajas de K-NN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112</cp:revision>
  <dcterms:created xsi:type="dcterms:W3CDTF">2026-02-02T17:28:11Z</dcterms:created>
  <dcterms:modified xsi:type="dcterms:W3CDTF">2026-03-05T15:57:28Z</dcterms:modified>
</cp:coreProperties>
</file>