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36"/>
  </p:notesMasterIdLst>
  <p:sldIdLst>
    <p:sldId id="321" r:id="rId2"/>
    <p:sldId id="343" r:id="rId3"/>
    <p:sldId id="324" r:id="rId4"/>
    <p:sldId id="325" r:id="rId5"/>
    <p:sldId id="355" r:id="rId6"/>
    <p:sldId id="351" r:id="rId7"/>
    <p:sldId id="350" r:id="rId8"/>
    <p:sldId id="347" r:id="rId9"/>
    <p:sldId id="352" r:id="rId10"/>
    <p:sldId id="353" r:id="rId11"/>
    <p:sldId id="354" r:id="rId12"/>
    <p:sldId id="346" r:id="rId13"/>
    <p:sldId id="335" r:id="rId14"/>
    <p:sldId id="328" r:id="rId15"/>
    <p:sldId id="329" r:id="rId16"/>
    <p:sldId id="330" r:id="rId17"/>
    <p:sldId id="331" r:id="rId18"/>
    <p:sldId id="332" r:id="rId19"/>
    <p:sldId id="348" r:id="rId20"/>
    <p:sldId id="349" r:id="rId21"/>
    <p:sldId id="333" r:id="rId22"/>
    <p:sldId id="336" r:id="rId23"/>
    <p:sldId id="356" r:id="rId24"/>
    <p:sldId id="357" r:id="rId25"/>
    <p:sldId id="358" r:id="rId26"/>
    <p:sldId id="362" r:id="rId27"/>
    <p:sldId id="364" r:id="rId28"/>
    <p:sldId id="363" r:id="rId29"/>
    <p:sldId id="365" r:id="rId30"/>
    <p:sldId id="359" r:id="rId31"/>
    <p:sldId id="366" r:id="rId32"/>
    <p:sldId id="360" r:id="rId33"/>
    <p:sldId id="361" r:id="rId34"/>
    <p:sldId id="279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28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74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523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3111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819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54021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14047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2042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111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5081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8017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0994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60213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38058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63790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54404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5409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6242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84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48F63A3B-78C7-47BE-AE5E-E10140E046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3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299" y="1457870"/>
            <a:ext cx="6202153" cy="631357"/>
          </a:xfrm>
        </p:spPr>
        <p:txBody>
          <a:bodyPr/>
          <a:lstStyle/>
          <a:p>
            <a:r>
              <a:rPr lang="es-CO" sz="4800" dirty="0" smtClean="0">
                <a:solidFill>
                  <a:schemeClr val="accent2">
                    <a:lumMod val="75000"/>
                  </a:schemeClr>
                </a:solidFill>
              </a:rPr>
              <a:t>Programación</a:t>
            </a:r>
            <a:r>
              <a:rPr lang="es-CO" dirty="0" smtClean="0">
                <a:solidFill>
                  <a:schemeClr val="accent2">
                    <a:lumMod val="75000"/>
                  </a:schemeClr>
                </a:solidFill>
              </a:rPr>
              <a:t> Genética</a:t>
            </a:r>
            <a:endParaRPr lang="es-CO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3705843" y="3025200"/>
            <a:ext cx="1737421" cy="239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José J. Martínez P.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163646" y="3558315"/>
            <a:ext cx="816709" cy="186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 err="1" smtClean="0">
                <a:latin typeface="Arial" pitchFamily="34" charset="0"/>
                <a:ea typeface="Arial" pitchFamily="34" charset="-122"/>
                <a:cs typeface="Arial" pitchFamily="34" charset="-120"/>
              </a:rPr>
              <a:t>Septiembre</a:t>
            </a:r>
            <a:r>
              <a:rPr lang="en-US" sz="1050" dirty="0" smtClean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5451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34" y="609534"/>
            <a:ext cx="8083431" cy="41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400"/>
              </a:lnSpc>
            </a:pPr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Historia</a:t>
            </a:r>
            <a:endParaRPr 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254937" y="1249495"/>
            <a:ext cx="7620166" cy="1577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30"/>
              </a:lnSpc>
              <a:buSzPct val="100000"/>
            </a:pPr>
            <a:endParaRPr lang="en-US" sz="3200" dirty="0" smtClean="0">
              <a:latin typeface="Calibri" panose="020F0502020204030204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973" y="1598095"/>
            <a:ext cx="4678377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Introducción a la PG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>
                <a:latin typeface="Calibri" panose="020F0502020204030204" pitchFamily="34" charset="0"/>
              </a:rPr>
              <a:t>Uno de los primeros fue Lawrence </a:t>
            </a:r>
            <a:r>
              <a:rPr lang="es-CO" sz="2800" dirty="0" err="1" smtClean="0">
                <a:latin typeface="Calibri" panose="020F0502020204030204" pitchFamily="34" charset="0"/>
              </a:rPr>
              <a:t>Fogel</a:t>
            </a:r>
            <a:r>
              <a:rPr lang="es-CO" sz="2800" dirty="0" smtClean="0">
                <a:latin typeface="Calibri" panose="020F0502020204030204" pitchFamily="34" charset="0"/>
              </a:rPr>
              <a:t>, 1964.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>
                <a:latin typeface="Calibri" panose="020F0502020204030204" pitchFamily="34" charset="0"/>
              </a:rPr>
              <a:t>John </a:t>
            </a:r>
            <a:r>
              <a:rPr lang="es-CO" sz="2800" dirty="0" err="1" smtClean="0">
                <a:latin typeface="Calibri" panose="020F0502020204030204" pitchFamily="34" charset="0"/>
              </a:rPr>
              <a:t>Koza</a:t>
            </a:r>
            <a:r>
              <a:rPr lang="es-CO" sz="2800" dirty="0" smtClean="0">
                <a:latin typeface="Calibri" panose="020F0502020204030204" pitchFamily="34" charset="0"/>
              </a:rPr>
              <a:t>, fue el principal promotor de la PG. Publicó su libro en el año 2000.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err="1" smtClean="0">
                <a:latin typeface="Calibri" panose="020F0502020204030204" pitchFamily="34" charset="0"/>
              </a:rPr>
              <a:t>Gianna</a:t>
            </a:r>
            <a:r>
              <a:rPr lang="es-CO" sz="2800" dirty="0" smtClean="0">
                <a:latin typeface="Calibri" panose="020F0502020204030204" pitchFamily="34" charset="0"/>
              </a:rPr>
              <a:t> </a:t>
            </a:r>
            <a:r>
              <a:rPr lang="es-CO" sz="2800" dirty="0" err="1" smtClean="0">
                <a:latin typeface="Calibri" panose="020F0502020204030204" pitchFamily="34" charset="0"/>
              </a:rPr>
              <a:t>Gabelli</a:t>
            </a:r>
            <a:r>
              <a:rPr lang="es-CO" sz="2800" dirty="0" smtClean="0">
                <a:latin typeface="Calibri" panose="020F0502020204030204" pitchFamily="34" charset="0"/>
              </a:rPr>
              <a:t> pionero en el uso de PG en modelar expresiones de ADN.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887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Concepto </a:t>
            </a:r>
            <a:r>
              <a:rPr sz="2800" dirty="0" smtClean="0">
                <a:solidFill>
                  <a:schemeClr val="accent2">
                    <a:lumMod val="75000"/>
                  </a:schemeClr>
                </a:solidFill>
              </a:rPr>
              <a:t>General </a:t>
            </a:r>
            <a:r>
              <a:rPr sz="2800" dirty="0">
                <a:solidFill>
                  <a:schemeClr val="accent2">
                    <a:lumMod val="75000"/>
                  </a:schemeClr>
                </a:solidFill>
              </a:rPr>
              <a:t>de </a:t>
            </a:r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la</a:t>
            </a:r>
            <a:r>
              <a:rPr sz="28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</a:t>
            </a:r>
            <a:r>
              <a:rPr sz="2800" dirty="0" smtClean="0">
                <a:solidFill>
                  <a:schemeClr val="accent2">
                    <a:lumMod val="75000"/>
                  </a:schemeClr>
                </a:solidFill>
              </a:rPr>
              <a:t>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800" dirty="0"/>
              <a:t>La Programación Genética, PG,  es un retoño de los Algoritmos </a:t>
            </a:r>
            <a:r>
              <a:rPr lang="es-CO" sz="2800" dirty="0" smtClean="0"/>
              <a:t>Genéticos.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Los cromosomas</a:t>
            </a:r>
            <a:r>
              <a:rPr lang="es-CO" sz="2800" dirty="0"/>
              <a:t>, que sufren la adaptación, son árboles que representan </a:t>
            </a:r>
            <a:r>
              <a:rPr lang="es-CO" sz="2800" dirty="0" smtClean="0"/>
              <a:t>programas.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Es </a:t>
            </a:r>
            <a:r>
              <a:rPr lang="es-CO" sz="2800" dirty="0"/>
              <a:t>decir, son en sí mismos programas de computador. </a:t>
            </a:r>
          </a:p>
        </p:txBody>
      </p:sp>
    </p:spTree>
    <p:extLst>
      <p:ext uri="{BB962C8B-B14F-4D97-AF65-F5344CB8AC3E}">
        <p14:creationId xmlns:p14="http://schemas.microsoft.com/office/powerpoint/2010/main" val="211856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Estructura de datos de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Arboles binarios</a:t>
            </a:r>
          </a:p>
          <a:p>
            <a:pPr marL="0" indent="0">
              <a:buNone/>
            </a:pPr>
            <a:r>
              <a:rPr lang="es-CO" sz="2400" dirty="0" smtClean="0"/>
              <a:t>   Los nodos internos son</a:t>
            </a:r>
          </a:p>
          <a:p>
            <a:pPr marL="0" indent="0">
              <a:buNone/>
            </a:pPr>
            <a:r>
              <a:rPr lang="es-CO" sz="2400" dirty="0" smtClean="0"/>
              <a:t>   funciones</a:t>
            </a:r>
          </a:p>
          <a:p>
            <a:pPr marL="0" indent="0">
              <a:buNone/>
            </a:pPr>
            <a:r>
              <a:rPr lang="es-CO" sz="2400" dirty="0" smtClean="0"/>
              <a:t>   Los nodos externos son</a:t>
            </a:r>
          </a:p>
          <a:p>
            <a:pPr marL="0" indent="0">
              <a:buNone/>
            </a:pPr>
            <a:r>
              <a:rPr lang="es-CO" sz="2400" dirty="0" smtClean="0"/>
              <a:t>   terminales </a:t>
            </a:r>
            <a:endParaRPr lang="es-CO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680" y="1317683"/>
            <a:ext cx="2948822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2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Pasos para 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800" dirty="0"/>
              <a:t>1. </a:t>
            </a:r>
            <a:r>
              <a:rPr lang="es-CO" sz="2800" dirty="0" smtClean="0"/>
              <a:t>Define problema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2</a:t>
            </a:r>
            <a:r>
              <a:rPr lang="es-CO" sz="2800" dirty="0"/>
              <a:t>. </a:t>
            </a:r>
            <a:r>
              <a:rPr lang="es-CO" sz="2800" dirty="0" smtClean="0"/>
              <a:t>Define el conjunto de terminales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3</a:t>
            </a:r>
            <a:r>
              <a:rPr lang="es-CO" sz="2800" dirty="0"/>
              <a:t>. </a:t>
            </a:r>
            <a:r>
              <a:rPr lang="es-CO" sz="2800" dirty="0" smtClean="0"/>
              <a:t>Define el conjunto de funciones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4</a:t>
            </a:r>
            <a:r>
              <a:rPr lang="es-CO" sz="2800" dirty="0"/>
              <a:t>. Medida de </a:t>
            </a:r>
            <a:r>
              <a:rPr lang="es-CO" sz="2800" dirty="0" smtClean="0"/>
              <a:t>aptitud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5</a:t>
            </a:r>
            <a:r>
              <a:rPr lang="es-CO" sz="2800" dirty="0"/>
              <a:t>. </a:t>
            </a:r>
            <a:r>
              <a:rPr lang="es-CO" sz="2800" dirty="0" smtClean="0"/>
              <a:t>Parámetros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6</a:t>
            </a:r>
            <a:r>
              <a:rPr lang="es-CO" sz="2800" dirty="0"/>
              <a:t>. Criterio de terminación</a:t>
            </a:r>
          </a:p>
        </p:txBody>
      </p:sp>
    </p:spTree>
    <p:extLst>
      <p:ext uri="{BB962C8B-B14F-4D97-AF65-F5344CB8AC3E}">
        <p14:creationId xmlns:p14="http://schemas.microsoft.com/office/powerpoint/2010/main" val="2388185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Pasos </a:t>
            </a:r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para </a:t>
            </a:r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800" dirty="0"/>
              <a:t>1. </a:t>
            </a:r>
            <a:r>
              <a:rPr lang="es-CO" sz="2800" dirty="0" smtClean="0"/>
              <a:t>Define el problema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Claridad sobre el problema </a:t>
            </a:r>
            <a:r>
              <a:rPr lang="es-CO" sz="2800" dirty="0"/>
              <a:t>que se </a:t>
            </a:r>
            <a:r>
              <a:rPr lang="es-CO" sz="2800" dirty="0" smtClean="0"/>
              <a:t>va a </a:t>
            </a:r>
            <a:r>
              <a:rPr lang="es-CO" sz="2800" dirty="0"/>
              <a:t>solucionar por </a:t>
            </a:r>
            <a:r>
              <a:rPr lang="es-CO" sz="2800" dirty="0" smtClean="0"/>
              <a:t>PG y su dominio.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Análisis </a:t>
            </a:r>
            <a:r>
              <a:rPr lang="es-CO" sz="2800" dirty="0"/>
              <a:t>de datos a través de regresiones, </a:t>
            </a:r>
            <a:r>
              <a:rPr lang="es-CO" sz="2800" dirty="0" smtClean="0"/>
              <a:t>clasificación; circuitos lógicos</a:t>
            </a:r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421351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Pasos para 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2, 3 </a:t>
            </a:r>
            <a:r>
              <a:rPr lang="es-CO" sz="2800" dirty="0"/>
              <a:t>El conjunto de </a:t>
            </a:r>
            <a:r>
              <a:rPr lang="es-CO" sz="2800" dirty="0" smtClean="0"/>
              <a:t>terminales</a:t>
            </a:r>
            <a:r>
              <a:rPr lang="es-CO" sz="2800" dirty="0"/>
              <a:t> </a:t>
            </a:r>
            <a:r>
              <a:rPr lang="es-CO" sz="2800" dirty="0" smtClean="0"/>
              <a:t>y conjunto de funciones</a:t>
            </a:r>
            <a:endParaRPr lang="es-CO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Terminales</a:t>
            </a:r>
            <a:r>
              <a:rPr lang="es-CO" sz="2800" dirty="0"/>
              <a:t>: variables y </a:t>
            </a:r>
            <a:r>
              <a:rPr lang="es-CO" sz="2800" dirty="0" smtClean="0"/>
              <a:t>constantes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Funciones</a:t>
            </a:r>
            <a:r>
              <a:rPr lang="es-CO" sz="2800" dirty="0"/>
              <a:t>: operaciones </a:t>
            </a:r>
            <a:r>
              <a:rPr lang="es-CO" sz="2800" dirty="0" smtClean="0"/>
              <a:t>propias del dominio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400" dirty="0" smtClean="0"/>
              <a:t>Propiedad </a:t>
            </a:r>
            <a:r>
              <a:rPr lang="es-CO" sz="2400" dirty="0"/>
              <a:t>de clausura</a:t>
            </a:r>
          </a:p>
          <a:p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264110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Pasos para 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4. Medida de aptitud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400" dirty="0"/>
              <a:t>Cada programa de computador individual en la población, se mide en términos de qué tan bien se comporta en el ambiente del problema particular, la </a:t>
            </a:r>
            <a:r>
              <a:rPr lang="es-CO" sz="2400" i="1" dirty="0"/>
              <a:t>medida de aptitud</a:t>
            </a:r>
            <a:r>
              <a:rPr lang="es-CO" sz="2400" dirty="0"/>
              <a:t>. La naturaleza de la medida de aptitud varía con el problema. </a:t>
            </a:r>
          </a:p>
          <a:p>
            <a:endParaRPr lang="es-CO" sz="2800" dirty="0"/>
          </a:p>
        </p:txBody>
      </p:sp>
    </p:spTree>
    <p:extLst>
      <p:ext uri="{BB962C8B-B14F-4D97-AF65-F5344CB8AC3E}">
        <p14:creationId xmlns:p14="http://schemas.microsoft.com/office/powerpoint/2010/main" val="337425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Pasos para 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/>
              <a:t>5. Parámetros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595223" y="2263931"/>
                <a:ext cx="4572000" cy="1754326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s-CO" dirty="0">
                    <a:latin typeface="Calibri" panose="020F0502020204030204" pitchFamily="34" charset="0"/>
                  </a:rPr>
                  <a:t> número de árboles en la población</a:t>
                </a:r>
              </a:p>
              <a:p>
                <a:endParaRPr lang="es-CO" b="1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s-CO" dirty="0">
                    <a:latin typeface="Calibri" panose="020F0502020204030204" pitchFamily="34" charset="0"/>
                  </a:rPr>
                  <a:t> número de generaciones del algoritmo</a:t>
                </a:r>
              </a:p>
              <a:p>
                <a:endParaRPr lang="es-CO" b="1" i="1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s-CO" b="1" i="1">
                        <a:latin typeface="Cambria Math" panose="02040503050406030204" pitchFamily="18" charset="0"/>
                      </a:rPr>
                      <m:t>𝒇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s-CO" dirty="0">
                    <a:latin typeface="Calibri" panose="020F0502020204030204" pitchFamily="34" charset="0"/>
                  </a:rPr>
                  <a:t>función de aptitud aplicada </a:t>
                </a:r>
                <a:r>
                  <a:rPr lang="es-CO" dirty="0" smtClean="0">
                    <a:latin typeface="Calibri" panose="020F0502020204030204" pitchFamily="34" charset="0"/>
                  </a:rPr>
                  <a:t>al problema, no hay decodificación</a:t>
                </a:r>
                <a:endParaRPr lang="es-CO" dirty="0">
                  <a:latin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223" y="2263931"/>
                <a:ext cx="4572000" cy="1754326"/>
              </a:xfrm>
              <a:prstGeom prst="rect">
                <a:avLst/>
              </a:prstGeom>
              <a:blipFill rotWithShape="0">
                <a:blip r:embed="rId2"/>
                <a:stretch>
                  <a:fillRect l="-1200" t="-1736" b="-451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34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Pasos para aplicar la PG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800" dirty="0"/>
              <a:t>6</a:t>
            </a:r>
            <a:r>
              <a:rPr lang="es-CO" sz="2800" dirty="0" smtClean="0"/>
              <a:t>. Criterio de terminación </a:t>
            </a:r>
          </a:p>
        </p:txBody>
      </p:sp>
      <p:sp>
        <p:nvSpPr>
          <p:cNvPr id="4" name="Rectángulo 3"/>
          <p:cNvSpPr/>
          <p:nvPr/>
        </p:nvSpPr>
        <p:spPr>
          <a:xfrm>
            <a:off x="595222" y="2263931"/>
            <a:ext cx="48825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/>
              <a:t>El mejor individuo que aparece en cualquier generación de una corrida, es decir el mejor hasta ahora, normalmente se designa como el resultado producido por la corrida de PG. </a:t>
            </a:r>
            <a:endParaRPr lang="es-CO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02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>
                <a:solidFill>
                  <a:schemeClr val="accent2">
                    <a:lumMod val="75000"/>
                  </a:schemeClr>
                </a:solidFill>
              </a:rPr>
              <a:t>Características</a:t>
            </a:r>
            <a:endParaRPr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s-CO" sz="2800" dirty="0">
                <a:latin typeface="Calibri" panose="020F0502020204030204" pitchFamily="34" charset="0"/>
              </a:rPr>
              <a:t>Material genético no lineal y estructurado en árbol.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s-CO" sz="2800" dirty="0">
                <a:latin typeface="Calibri" panose="020F0502020204030204" pitchFamily="34" charset="0"/>
              </a:rPr>
              <a:t>Material genético de longitud variable.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s-CO" sz="2800" dirty="0" smtClean="0">
                <a:latin typeface="Calibri" panose="020F0502020204030204" pitchFamily="34" charset="0"/>
              </a:rPr>
              <a:t>Material </a:t>
            </a:r>
            <a:r>
              <a:rPr lang="es-CO" sz="2800" dirty="0">
                <a:latin typeface="Calibri" panose="020F0502020204030204" pitchFamily="34" charset="0"/>
              </a:rPr>
              <a:t>genético ejecutable.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s-CO" sz="2800" dirty="0" smtClean="0">
                <a:latin typeface="Calibri" panose="020F0502020204030204" pitchFamily="34" charset="0"/>
              </a:rPr>
              <a:t>El </a:t>
            </a:r>
            <a:r>
              <a:rPr lang="es-CO" sz="2800" dirty="0">
                <a:latin typeface="Calibri" panose="020F0502020204030204" pitchFamily="34" charset="0"/>
              </a:rPr>
              <a:t>Cruce preserva la sintaxis. </a:t>
            </a:r>
          </a:p>
        </p:txBody>
      </p:sp>
    </p:spTree>
    <p:extLst>
      <p:ext uri="{BB962C8B-B14F-4D97-AF65-F5344CB8AC3E}">
        <p14:creationId xmlns:p14="http://schemas.microsoft.com/office/powerpoint/2010/main" val="250091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Programación Genética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>
                <a:latin typeface="Calibri" panose="020F0502020204030204" pitchFamily="34" charset="0"/>
              </a:rPr>
              <a:t>Inicialización aleatoria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>
                <a:latin typeface="Calibri" panose="020F0502020204030204" pitchFamily="34" charset="0"/>
              </a:rPr>
              <a:t>Evaluación de aptitud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>
                <a:latin typeface="Calibri" panose="020F0502020204030204" pitchFamily="34" charset="0"/>
              </a:rPr>
              <a:t>Selección, cruce y mutación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>
                <a:latin typeface="Calibri" panose="020F0502020204030204" pitchFamily="34" charset="0"/>
              </a:rPr>
              <a:t>Reemplazo de población</a:t>
            </a:r>
            <a:endParaRPr lang="es-CO" sz="28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1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s-CO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>
                <a:latin typeface="Calibri" panose="020F0502020204030204" pitchFamily="34" charset="0"/>
              </a:rPr>
              <a:t>Selección</a:t>
            </a:r>
          </a:p>
          <a:p>
            <a:pPr>
              <a:buFont typeface="Wingdings" panose="05000000000000000000" pitchFamily="2" charset="2"/>
              <a:buChar char="Ø"/>
            </a:pPr>
            <a:endParaRPr lang="es-CO" sz="2800" dirty="0" smtClean="0"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>
                <a:latin typeface="Calibri" panose="020F0502020204030204" pitchFamily="34" charset="0"/>
              </a:rPr>
              <a:t>Cruce</a:t>
            </a:r>
          </a:p>
          <a:p>
            <a:pPr>
              <a:buFont typeface="Wingdings" panose="05000000000000000000" pitchFamily="2" charset="2"/>
              <a:buChar char="Ø"/>
            </a:pPr>
            <a:endParaRPr lang="es-CO" sz="2800" dirty="0" smtClean="0">
              <a:latin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CO" sz="2800" dirty="0" smtClean="0">
                <a:latin typeface="Calibri" panose="020F0502020204030204" pitchFamily="34" charset="0"/>
              </a:rPr>
              <a:t>Mutación</a:t>
            </a:r>
            <a:endParaRPr lang="es-CO" sz="2800" dirty="0">
              <a:latin typeface="Calibri" panose="020F0502020204030204" pitchFamily="34" charset="0"/>
            </a:endParaRP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02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lang="es-CO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sz="2800" dirty="0" smtClean="0">
                    <a:latin typeface="Calibri" panose="020F0502020204030204" pitchFamily="34" charset="0"/>
                  </a:rPr>
                  <a:t>Selección</a:t>
                </a:r>
              </a:p>
              <a:p>
                <a:pPr marL="0" indent="0">
                  <a:buNone/>
                </a:pPr>
                <a:r>
                  <a:rPr lang="es-CO" sz="2800" dirty="0">
                    <a:latin typeface="Calibri" panose="020F0502020204030204" pitchFamily="34" charset="0"/>
                  </a:rPr>
                  <a:t>C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iertos </a:t>
                </a:r>
                <a:r>
                  <a:rPr lang="es-CO" sz="2800" dirty="0">
                    <a:latin typeface="Calibri" panose="020F0502020204030204" pitchFamily="34" charset="0"/>
                  </a:rPr>
                  <a:t>á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rboles </a:t>
                </a:r>
                <a:r>
                  <a:rPr lang="es-CO" sz="2800" dirty="0">
                    <a:latin typeface="Calibri" panose="020F0502020204030204" pitchFamily="34" charset="0"/>
                  </a:rPr>
                  <a:t>se llevan a la siguiente generación, considerando su comportamiento con respecto a la función de aptitud </a:t>
                </a:r>
                <a14:m>
                  <m:oMath xmlns:m="http://schemas.openxmlformats.org/officeDocument/2006/math">
                    <m:r>
                      <a:rPr lang="es-CO" sz="28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CO" sz="2800" dirty="0">
                    <a:latin typeface="Calibri" panose="020F0502020204030204" pitchFamily="34" charset="0"/>
                  </a:rPr>
                  <a:t> y 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al resto </a:t>
                </a:r>
                <a:r>
                  <a:rPr lang="es-CO" sz="2800" dirty="0">
                    <a:latin typeface="Calibri" panose="020F0502020204030204" pitchFamily="34" charset="0"/>
                  </a:rPr>
                  <a:t>de la </a:t>
                </a:r>
                <a:r>
                  <a:rPr lang="es-CO" sz="2800" dirty="0" smtClean="0">
                    <a:latin typeface="Calibri" panose="020F0502020204030204" pitchFamily="34" charset="0"/>
                  </a:rPr>
                  <a:t>población.</a:t>
                </a:r>
              </a:p>
              <a:p>
                <a:pPr mar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90" r="-94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478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s-CO" sz="1800" dirty="0" smtClean="0">
                <a:latin typeface="Calibri" panose="020F0502020204030204" pitchFamily="34" charset="0"/>
              </a:rPr>
              <a:t>Selección</a:t>
            </a:r>
          </a:p>
          <a:p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54" y="1761414"/>
            <a:ext cx="4179507" cy="276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7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sz="2800" dirty="0" smtClean="0">
                    <a:latin typeface="Calibri" panose="020F0502020204030204" pitchFamily="34" charset="0"/>
                  </a:rPr>
                  <a:t>Cruce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s-CO" sz="2400" dirty="0"/>
                  <a:t>El cruce </a:t>
                </a:r>
                <a:r>
                  <a:rPr lang="es-CO" sz="2400" dirty="0" smtClean="0"/>
                  <a:t>opera </a:t>
                </a:r>
                <a:r>
                  <a:rPr lang="es-CO" sz="2400" dirty="0"/>
                  <a:t>sobre dos programas padres y produce dos nuevos programas hijos </a:t>
                </a:r>
                <a:r>
                  <a:rPr lang="es-CO" sz="2400" dirty="0" smtClean="0"/>
                  <a:t>consistentes, </a:t>
                </a:r>
                <a:r>
                  <a:rPr lang="es-CO" sz="2400" dirty="0"/>
                  <a:t>de partes de cada padre.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s-CO" sz="2400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 ↑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CO" sz="2400" dirty="0"/>
                  <a:t>  y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s-CO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CO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s-CO" sz="2400" i="1">
                        <a:latin typeface="Cambria Math" panose="02040503050406030204" pitchFamily="18" charset="0"/>
                      </a:rPr>
                      <m:t>↑</m:t>
                    </m:r>
                    <m:r>
                      <a:rPr lang="es-CO" sz="24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s-CO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0" t="-2096" r="-75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730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dirty="0" smtClean="0"/>
              <a:t>Cruce</a:t>
            </a:r>
          </a:p>
          <a:p>
            <a:endParaRPr lang="es-CO" dirty="0" smtClean="0"/>
          </a:p>
        </p:txBody>
      </p:sp>
      <p:pic>
        <p:nvPicPr>
          <p:cNvPr id="5" name="Imagen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46" y="2047126"/>
            <a:ext cx="2360295" cy="1825625"/>
          </a:xfrm>
          <a:prstGeom prst="rect">
            <a:avLst/>
          </a:prstGeom>
        </p:spPr>
      </p:pic>
      <p:pic>
        <p:nvPicPr>
          <p:cNvPr id="7" name="Imagen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130" y="2034108"/>
            <a:ext cx="2237740" cy="18516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ángulo 5"/>
              <p:cNvSpPr/>
              <p:nvPr/>
            </p:nvSpPr>
            <p:spPr>
              <a:xfrm>
                <a:off x="879894" y="4056717"/>
                <a:ext cx="5193101" cy="388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CO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d>
                      <m:dPr>
                        <m:ctrlP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↑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</m:d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s-CO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s-CO" dirty="0" smtClean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</m:d>
                    <m:r>
                      <a:rPr lang="es-CO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s-CO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↑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s-CO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ángulo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894" y="4056717"/>
                <a:ext cx="5193101" cy="388696"/>
              </a:xfrm>
              <a:prstGeom prst="rect">
                <a:avLst/>
              </a:prstGeom>
              <a:blipFill rotWithShape="0"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8713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dirty="0" smtClean="0"/>
              <a:t>Cruce</a:t>
            </a:r>
          </a:p>
          <a:p>
            <a:endParaRPr lang="es-CO" dirty="0" smtClean="0"/>
          </a:p>
        </p:txBody>
      </p:sp>
      <p:pic>
        <p:nvPicPr>
          <p:cNvPr id="5" name="Imagen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192" y="2165230"/>
            <a:ext cx="1689104" cy="1332672"/>
          </a:xfrm>
          <a:prstGeom prst="rect">
            <a:avLst/>
          </a:prstGeom>
        </p:spPr>
      </p:pic>
      <p:pic>
        <p:nvPicPr>
          <p:cNvPr id="7" name="Imagen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898" y="2165230"/>
            <a:ext cx="1687496" cy="1352112"/>
          </a:xfrm>
          <a:prstGeom prst="rect">
            <a:avLst/>
          </a:prstGeom>
        </p:spPr>
      </p:pic>
      <p:pic>
        <p:nvPicPr>
          <p:cNvPr id="12" name="Imagen 11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544" y="3497902"/>
            <a:ext cx="879403" cy="890789"/>
          </a:xfrm>
          <a:prstGeom prst="rect">
            <a:avLst/>
          </a:prstGeom>
        </p:spPr>
      </p:pic>
      <p:pic>
        <p:nvPicPr>
          <p:cNvPr id="13" name="Imagen 12"/>
          <p:cNvPicPr/>
          <p:nvPr/>
        </p:nvPicPr>
        <p:blipFill>
          <a:blip r:embed="rId5"/>
          <a:stretch>
            <a:fillRect/>
          </a:stretch>
        </p:blipFill>
        <p:spPr>
          <a:xfrm>
            <a:off x="2474625" y="3517342"/>
            <a:ext cx="495300" cy="561975"/>
          </a:xfrm>
          <a:prstGeom prst="rect">
            <a:avLst/>
          </a:prstGeom>
          <a:solidFill>
            <a:srgbClr val="0070C0"/>
          </a:solidFill>
        </p:spPr>
      </p:pic>
    </p:spTree>
    <p:extLst>
      <p:ext uri="{BB962C8B-B14F-4D97-AF65-F5344CB8AC3E}">
        <p14:creationId xmlns:p14="http://schemas.microsoft.com/office/powerpoint/2010/main" val="313665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dirty="0" smtClean="0"/>
              <a:t>Cruce</a:t>
            </a:r>
          </a:p>
          <a:p>
            <a:endParaRPr lang="es-CO" dirty="0" smtClean="0"/>
          </a:p>
        </p:txBody>
      </p:sp>
      <p:pic>
        <p:nvPicPr>
          <p:cNvPr id="8" name="Imagen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74" y="2065147"/>
            <a:ext cx="1988820" cy="1799590"/>
          </a:xfrm>
          <a:prstGeom prst="rect">
            <a:avLst/>
          </a:prstGeom>
        </p:spPr>
      </p:pic>
      <p:pic>
        <p:nvPicPr>
          <p:cNvPr id="9" name="Imagen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0459" y="2065147"/>
            <a:ext cx="1795145" cy="1808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ángulo 3"/>
              <p:cNvSpPr/>
              <p:nvPr/>
            </p:nvSpPr>
            <p:spPr>
              <a:xfrm>
                <a:off x="934973" y="4018605"/>
                <a:ext cx="5828136" cy="38869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d>
                      <m:dPr>
                        <m:ctrlPr>
                          <a:rPr lang="es-CO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CO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s-CO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s-CO" dirty="0" smtClean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)+((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 </m:t>
                        </m:r>
                        <m:d>
                          <m:dPr>
                            <m:ctrlPr>
                              <a:rPr lang="es-CO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CO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s-CO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↑</m:t>
                            </m:r>
                            <m:r>
                              <a:rPr lang="es-CO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𝑒</m:t>
                            </m:r>
                            <m:r>
                              <a:rPr lang="es-CO" b="0" i="1" smtClean="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↑</m:t>
                        </m:r>
                        <m:r>
                          <a:rPr lang="es-CO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</m:d>
                  </m:oMath>
                </a14:m>
                <a:endParaRPr lang="es-CO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973" y="4018605"/>
                <a:ext cx="5828136" cy="388696"/>
              </a:xfrm>
              <a:prstGeom prst="rect">
                <a:avLst/>
              </a:prstGeom>
              <a:blipFill rotWithShape="0"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964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Operadores Genéticos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dirty="0" smtClean="0">
                <a:latin typeface="Calibri" panose="020F0502020204030204" pitchFamily="34" charset="0"/>
              </a:rPr>
              <a:t>Mutación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400" dirty="0" smtClean="0">
                <a:latin typeface="Calibri" panose="020F0502020204030204" pitchFamily="34" charset="0"/>
              </a:rPr>
              <a:t>Permite explorar otras áreas del espacio de soluciones, por posibles picos de optimización.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400" dirty="0" smtClean="0">
                <a:latin typeface="Calibri" panose="020F0502020204030204" pitchFamily="34" charset="0"/>
              </a:rPr>
              <a:t>Se escoge al azar un terminal, del conjunto de terminales; o una función del conjunto de funciones. </a:t>
            </a:r>
          </a:p>
          <a:p>
            <a:pPr>
              <a:buFont typeface="Wingdings" panose="05000000000000000000" pitchFamily="2" charset="2"/>
              <a:buChar char="Ø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208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Programación Genética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Imagen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12505" y="1458234"/>
            <a:ext cx="4372610" cy="2520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41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Recorrido de árboles binarios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dirty="0" err="1" smtClean="0"/>
              <a:t>Preorden</a:t>
            </a:r>
            <a:endParaRPr lang="es-CO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s-CO" sz="2400" dirty="0" err="1" smtClean="0"/>
              <a:t>Inorden</a:t>
            </a:r>
            <a:endParaRPr lang="es-CO" sz="24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s-CO" sz="2400" dirty="0" err="1" smtClean="0"/>
              <a:t>Postorden</a:t>
            </a:r>
            <a:endParaRPr lang="es-CO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/>
              <a:t>Importante para </a:t>
            </a:r>
            <a:r>
              <a:rPr lang="es-CO" sz="2400" dirty="0" smtClean="0"/>
              <a:t>la ejecución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9156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Generación de árboles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dirty="0"/>
              <a:t>Selección aleatoria de </a:t>
            </a:r>
            <a:r>
              <a:rPr lang="es-CO" sz="2400" dirty="0" smtClean="0"/>
              <a:t>funciones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400" dirty="0"/>
              <a:t>Selección aleatoria </a:t>
            </a:r>
            <a:r>
              <a:rPr lang="es-CO" sz="2400" dirty="0" smtClean="0"/>
              <a:t>de terminales</a:t>
            </a:r>
            <a:endParaRPr lang="es-CO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/>
              <a:t>Sustitución de terminales por subárboles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/>
              <a:t>Control de profundidad</a:t>
            </a:r>
          </a:p>
        </p:txBody>
      </p:sp>
    </p:spTree>
    <p:extLst>
      <p:ext uri="{BB962C8B-B14F-4D97-AF65-F5344CB8AC3E}">
        <p14:creationId xmlns:p14="http://schemas.microsoft.com/office/powerpoint/2010/main" val="201119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Generación de árboles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dirty="0"/>
              <a:t>Selección aleatoria de </a:t>
            </a:r>
            <a:r>
              <a:rPr lang="es-CO" sz="2400" dirty="0" smtClean="0"/>
              <a:t>funciones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400" dirty="0"/>
              <a:t>Selección aleatoria </a:t>
            </a:r>
            <a:r>
              <a:rPr lang="es-CO" sz="2400" dirty="0" smtClean="0"/>
              <a:t>de terminales</a:t>
            </a:r>
            <a:endParaRPr lang="es-CO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/>
              <a:t>Sustitución de terminales por subárboles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/>
              <a:t>Control de profundidad</a:t>
            </a:r>
          </a:p>
        </p:txBody>
      </p:sp>
    </p:spTree>
    <p:extLst>
      <p:ext uri="{BB962C8B-B14F-4D97-AF65-F5344CB8AC3E}">
        <p14:creationId xmlns:p14="http://schemas.microsoft.com/office/powerpoint/2010/main" val="207696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b="1" dirty="0"/>
              <a:t>Diseño automatizado en </a:t>
            </a:r>
            <a:r>
              <a:rPr lang="es-CO" sz="2400" b="1" dirty="0" smtClean="0"/>
              <a:t>ingeniería</a:t>
            </a:r>
            <a:endParaRPr lang="es-CO" sz="2400" dirty="0" smtClean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 smtClean="0"/>
              <a:t>Permite crear </a:t>
            </a:r>
            <a:r>
              <a:rPr lang="es-CO" sz="2400" dirty="0"/>
              <a:t>objetos físicos complejos como </a:t>
            </a:r>
            <a:r>
              <a:rPr lang="es-CO" sz="2400" dirty="0" smtClean="0"/>
              <a:t>antenas </a:t>
            </a:r>
            <a:r>
              <a:rPr lang="es-CO" sz="2400" dirty="0"/>
              <a:t>espaciales para la NASA, o circuitos electrónicos avanzados. Soluciona problemas en logística o ingeniería, donde hay miles de combinaciones</a:t>
            </a:r>
            <a:r>
              <a:rPr lang="es-CO" sz="2400" dirty="0" smtClean="0"/>
              <a:t>.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4061428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b="1" dirty="0" smtClean="0"/>
              <a:t>Robótica </a:t>
            </a:r>
            <a:r>
              <a:rPr lang="es-CO" sz="2400" b="1" dirty="0"/>
              <a:t>y control</a:t>
            </a:r>
            <a:endParaRPr lang="es-CO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/>
              <a:t>Diseña comportamientos y reflejos automáticos para el movimiento </a:t>
            </a:r>
            <a:r>
              <a:rPr lang="es-CO" sz="2400" dirty="0" smtClean="0"/>
              <a:t>de </a:t>
            </a:r>
            <a:r>
              <a:rPr lang="es-CO" sz="2400" dirty="0"/>
              <a:t>los </a:t>
            </a:r>
            <a:r>
              <a:rPr lang="es-CO" sz="2400" dirty="0" smtClean="0"/>
              <a:t>robots. Sin cálculos de las articulaciones evalúa </a:t>
            </a:r>
            <a:r>
              <a:rPr lang="es-CO" sz="2400" dirty="0"/>
              <a:t>miles de </a:t>
            </a:r>
            <a:r>
              <a:rPr lang="es-CO" sz="2400" dirty="0" smtClean="0"/>
              <a:t>movimiento. </a:t>
            </a:r>
            <a:r>
              <a:rPr lang="es-CO" sz="2400" dirty="0"/>
              <a:t>Los </a:t>
            </a:r>
            <a:r>
              <a:rPr lang="es-CO" sz="2400" dirty="0" smtClean="0"/>
              <a:t>que </a:t>
            </a:r>
            <a:r>
              <a:rPr lang="es-CO" sz="2400" dirty="0"/>
              <a:t>logran que el robot avance más rápido sin caerse "</a:t>
            </a:r>
            <a:r>
              <a:rPr lang="es-CO" sz="2400" dirty="0" smtClean="0"/>
              <a:t>sobreviven“.</a:t>
            </a:r>
            <a:endParaRPr lang="es-CO" sz="2400" dirty="0"/>
          </a:p>
          <a:p>
            <a:pPr marL="642938" lvl="1" indent="-342900">
              <a:buFont typeface="Wingdings" panose="05000000000000000000" pitchFamily="2" charset="2"/>
              <a:buChar char="Ø"/>
            </a:pP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85803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b="1" dirty="0" smtClean="0"/>
              <a:t>Reingeniería</a:t>
            </a:r>
            <a:endParaRPr lang="es-CO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s-CO" sz="2400" dirty="0" smtClean="0"/>
              <a:t>En </a:t>
            </a:r>
            <a:r>
              <a:rPr lang="es-CO" sz="2400" dirty="0"/>
              <a:t>productos, </a:t>
            </a:r>
            <a:r>
              <a:rPr lang="es-CO" sz="2400" dirty="0" smtClean="0"/>
              <a:t>se usa </a:t>
            </a:r>
            <a:r>
              <a:rPr lang="es-CO" sz="2400" dirty="0"/>
              <a:t>con herramientas </a:t>
            </a:r>
            <a:r>
              <a:rPr lang="es-CO" sz="2400" dirty="0" smtClean="0"/>
              <a:t>CAD </a:t>
            </a:r>
            <a:r>
              <a:rPr lang="es-CO" sz="2400" dirty="0"/>
              <a:t>para rediseñar </a:t>
            </a:r>
            <a:r>
              <a:rPr lang="es-CO" sz="2400" dirty="0" smtClean="0"/>
              <a:t>las piezas. Reduce material </a:t>
            </a:r>
            <a:r>
              <a:rPr lang="es-CO" sz="2400" dirty="0"/>
              <a:t>y </a:t>
            </a:r>
            <a:r>
              <a:rPr lang="es-CO" sz="2400" dirty="0" smtClean="0"/>
              <a:t>genera </a:t>
            </a:r>
            <a:r>
              <a:rPr lang="es-CO" sz="2400" dirty="0"/>
              <a:t>nuevas </a:t>
            </a:r>
            <a:r>
              <a:rPr lang="es-CO" sz="2400" dirty="0" smtClean="0"/>
              <a:t>formas.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CO" sz="2400" dirty="0" smtClean="0"/>
              <a:t>En procesos, </a:t>
            </a:r>
            <a:r>
              <a:rPr lang="es-CO" sz="2400" dirty="0"/>
              <a:t>se </a:t>
            </a:r>
            <a:r>
              <a:rPr lang="es-CO" sz="2400" dirty="0" smtClean="0"/>
              <a:t>rediseñan líneas </a:t>
            </a:r>
            <a:r>
              <a:rPr lang="es-CO" sz="2400" dirty="0"/>
              <a:t>de producción y de ensamblaje de un producto, aumentando su eficiencia. </a:t>
            </a:r>
          </a:p>
          <a:p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112762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b="1" dirty="0" smtClean="0"/>
              <a:t>Regresión </a:t>
            </a:r>
            <a:r>
              <a:rPr lang="es-CO" sz="2400" b="1" dirty="0"/>
              <a:t>Simbólica </a:t>
            </a:r>
            <a:endParaRPr lang="es-CO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s-CO" sz="2400" dirty="0" smtClean="0"/>
              <a:t>La regresión simbólica consiste </a:t>
            </a:r>
            <a:r>
              <a:rPr lang="es-CO" sz="2400" dirty="0"/>
              <a:t>en obtener una función algebraica que </a:t>
            </a:r>
            <a:r>
              <a:rPr lang="es-CO" sz="2400" dirty="0" smtClean="0"/>
              <a:t>ajuste en gran medida un conjunto de datos experimentales. 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8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Aplicación: regresión simbólica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dirty="0" smtClean="0"/>
              <a:t>Encontrar una </a:t>
            </a:r>
            <a:r>
              <a:rPr lang="es-CO" sz="2400" dirty="0"/>
              <a:t>función algebraica desconocida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/>
              <a:t>Ajuste a datos experimentales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/>
              <a:t>Aptitud inversamente proporcional al error</a:t>
            </a:r>
          </a:p>
        </p:txBody>
      </p:sp>
    </p:spTree>
    <p:extLst>
      <p:ext uri="{BB962C8B-B14F-4D97-AF65-F5344CB8AC3E}">
        <p14:creationId xmlns:p14="http://schemas.microsoft.com/office/powerpoint/2010/main" val="1916133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Aplicaciones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CO" sz="2400" b="1" dirty="0" smtClean="0"/>
              <a:t>Otras </a:t>
            </a:r>
            <a:r>
              <a:rPr lang="es-CO" sz="2400" b="1" dirty="0"/>
              <a:t>aplicaciones</a:t>
            </a:r>
            <a:endParaRPr lang="es-CO" sz="2400" dirty="0"/>
          </a:p>
          <a:p>
            <a:pPr lvl="1"/>
            <a:r>
              <a:rPr lang="es-CO" sz="2250" dirty="0"/>
              <a:t>Planeación de trayectorias</a:t>
            </a:r>
          </a:p>
          <a:p>
            <a:pPr lvl="1"/>
            <a:r>
              <a:rPr lang="es-CO" sz="2250" dirty="0"/>
              <a:t>Diseño de circuitos lógicos</a:t>
            </a:r>
          </a:p>
          <a:p>
            <a:pPr lvl="1"/>
            <a:r>
              <a:rPr lang="es-CO" sz="2250" dirty="0"/>
              <a:t>Estrategia de juegos</a:t>
            </a:r>
          </a:p>
          <a:p>
            <a:pPr lvl="1"/>
            <a:r>
              <a:rPr lang="es-CO" sz="2250" dirty="0"/>
              <a:t>Programación de máquinas</a:t>
            </a:r>
          </a:p>
          <a:p>
            <a:pPr lvl="1"/>
            <a:r>
              <a:rPr lang="es-CO" sz="2250" dirty="0"/>
              <a:t>Machine </a:t>
            </a:r>
            <a:r>
              <a:rPr lang="es-CO" sz="2250" dirty="0" err="1" smtClean="0"/>
              <a:t>Learning</a:t>
            </a:r>
            <a:endParaRPr lang="es-CO" sz="2250" dirty="0"/>
          </a:p>
        </p:txBody>
      </p:sp>
    </p:spTree>
    <p:extLst>
      <p:ext uri="{BB962C8B-B14F-4D97-AF65-F5344CB8AC3E}">
        <p14:creationId xmlns:p14="http://schemas.microsoft.com/office/powerpoint/2010/main" val="330900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MEPX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CO" sz="2400" dirty="0"/>
              <a:t>Herramienta </a:t>
            </a:r>
            <a:r>
              <a:rPr lang="es-CO" sz="2400" dirty="0" smtClean="0"/>
              <a:t>de </a:t>
            </a:r>
            <a:r>
              <a:rPr lang="es-CO" sz="2400" dirty="0"/>
              <a:t>PG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/>
              <a:t>Aplicaciones en clasificación y regresión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CO" sz="2400" dirty="0"/>
              <a:t>Genera código automático en </a:t>
            </a:r>
            <a:r>
              <a:rPr lang="es-CO" sz="2400" dirty="0" err="1" smtClean="0"/>
              <a:t>Python</a:t>
            </a:r>
            <a:r>
              <a:rPr lang="es-CO" sz="2400" dirty="0" smtClean="0"/>
              <a:t> o C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532011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2800" dirty="0" smtClean="0">
                <a:solidFill>
                  <a:schemeClr val="accent2">
                    <a:lumMod val="75000"/>
                  </a:schemeClr>
                </a:solidFill>
              </a:rPr>
              <a:t>MEPX</a:t>
            </a:r>
            <a:endParaRPr lang="es-CO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7645" y="1552756"/>
            <a:ext cx="6098981" cy="297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278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6498" y="1804122"/>
            <a:ext cx="1710839" cy="54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817</TotalTime>
  <Words>754</Words>
  <Application>Microsoft Office PowerPoint</Application>
  <PresentationFormat>Presentación en pantalla (16:9)</PresentationFormat>
  <Paragraphs>136</Paragraphs>
  <Slides>34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2" baseType="lpstr">
      <vt:lpstr>Arial</vt:lpstr>
      <vt:lpstr>Calibri</vt:lpstr>
      <vt:lpstr>Cambria Math</vt:lpstr>
      <vt:lpstr>Times New Roman</vt:lpstr>
      <vt:lpstr>Trebuchet MS</vt:lpstr>
      <vt:lpstr>Wingdings</vt:lpstr>
      <vt:lpstr>Wingdings 3</vt:lpstr>
      <vt:lpstr>Faceta</vt:lpstr>
      <vt:lpstr>Programación Genética</vt:lpstr>
      <vt:lpstr>Presentación de PowerPoint</vt:lpstr>
      <vt:lpstr>Introducción a la PG</vt:lpstr>
      <vt:lpstr>Concepto General de la PG</vt:lpstr>
      <vt:lpstr>Estructura de datos de la PG</vt:lpstr>
      <vt:lpstr>Pasos para aplicar la PG</vt:lpstr>
      <vt:lpstr>Pasos para aplicar la PG</vt:lpstr>
      <vt:lpstr>Pasos para aplicar la PG</vt:lpstr>
      <vt:lpstr>Pasos para aplicar la PG</vt:lpstr>
      <vt:lpstr>Pasos para aplicar la PG</vt:lpstr>
      <vt:lpstr>Pasos para aplicar la PG</vt:lpstr>
      <vt:lpstr>Características</vt:lpstr>
      <vt:lpstr>Programación Genética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Operadores Genéticos</vt:lpstr>
      <vt:lpstr>Programación Genética</vt:lpstr>
      <vt:lpstr>Recorrido de árboles binarios</vt:lpstr>
      <vt:lpstr>Generación de árboles</vt:lpstr>
      <vt:lpstr>Generación de árboles</vt:lpstr>
      <vt:lpstr>Aplicaciones</vt:lpstr>
      <vt:lpstr>Aplicaciones</vt:lpstr>
      <vt:lpstr>Aplicaciones</vt:lpstr>
      <vt:lpstr>Aplicaciones</vt:lpstr>
      <vt:lpstr>Aplicación: regresión simbólica</vt:lpstr>
      <vt:lpstr>Aplicaciones</vt:lpstr>
      <vt:lpstr>MEPX</vt:lpstr>
      <vt:lpstr>MEPX</vt:lpstr>
      <vt:lpstr>Presentación de PowerPoint</vt:lpstr>
    </vt:vector>
  </TitlesOfParts>
  <Company>Perplexity 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usuario pc</cp:lastModifiedBy>
  <cp:revision>98</cp:revision>
  <dcterms:created xsi:type="dcterms:W3CDTF">2026-02-02T17:28:11Z</dcterms:created>
  <dcterms:modified xsi:type="dcterms:W3CDTF">2026-09-09T22:49:08Z</dcterms:modified>
</cp:coreProperties>
</file>