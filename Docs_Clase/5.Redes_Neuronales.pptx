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notesMasterIdLst>
    <p:notesMasterId r:id="rId50"/>
  </p:notesMasterIdLst>
  <p:sldIdLst>
    <p:sldId id="343" r:id="rId2"/>
    <p:sldId id="345" r:id="rId3"/>
    <p:sldId id="371" r:id="rId4"/>
    <p:sldId id="370" r:id="rId5"/>
    <p:sldId id="346" r:id="rId6"/>
    <p:sldId id="344" r:id="rId7"/>
    <p:sldId id="347" r:id="rId8"/>
    <p:sldId id="368" r:id="rId9"/>
    <p:sldId id="348" r:id="rId10"/>
    <p:sldId id="394" r:id="rId11"/>
    <p:sldId id="395" r:id="rId12"/>
    <p:sldId id="372" r:id="rId13"/>
    <p:sldId id="349" r:id="rId14"/>
    <p:sldId id="350" r:id="rId15"/>
    <p:sldId id="373" r:id="rId16"/>
    <p:sldId id="353" r:id="rId17"/>
    <p:sldId id="354" r:id="rId18"/>
    <p:sldId id="356" r:id="rId19"/>
    <p:sldId id="393" r:id="rId20"/>
    <p:sldId id="392" r:id="rId21"/>
    <p:sldId id="357" r:id="rId22"/>
    <p:sldId id="351" r:id="rId23"/>
    <p:sldId id="376" r:id="rId24"/>
    <p:sldId id="378" r:id="rId25"/>
    <p:sldId id="377" r:id="rId26"/>
    <p:sldId id="379" r:id="rId27"/>
    <p:sldId id="380" r:id="rId28"/>
    <p:sldId id="355" r:id="rId29"/>
    <p:sldId id="361" r:id="rId30"/>
    <p:sldId id="358" r:id="rId31"/>
    <p:sldId id="359" r:id="rId32"/>
    <p:sldId id="375" r:id="rId33"/>
    <p:sldId id="352" r:id="rId34"/>
    <p:sldId id="382" r:id="rId35"/>
    <p:sldId id="383" r:id="rId36"/>
    <p:sldId id="384" r:id="rId37"/>
    <p:sldId id="385" r:id="rId38"/>
    <p:sldId id="381" r:id="rId39"/>
    <p:sldId id="362" r:id="rId40"/>
    <p:sldId id="390" r:id="rId41"/>
    <p:sldId id="391" r:id="rId42"/>
    <p:sldId id="363" r:id="rId43"/>
    <p:sldId id="360" r:id="rId44"/>
    <p:sldId id="364" r:id="rId45"/>
    <p:sldId id="386" r:id="rId46"/>
    <p:sldId id="365" r:id="rId47"/>
    <p:sldId id="367" r:id="rId48"/>
    <p:sldId id="279" r:id="rId4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3285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7798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95235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31115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68195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54021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14047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20427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11141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5081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28017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09945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35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3602138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38058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663790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54404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25409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62421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5842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139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1197" y="552678"/>
            <a:ext cx="6064897" cy="685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5400"/>
              </a:lnSpc>
            </a:pPr>
            <a:r>
              <a:rPr lang="es-CO" sz="4800" dirty="0" smtClean="0">
                <a:solidFill>
                  <a:schemeClr val="accent2">
                    <a:lumMod val="75000"/>
                  </a:schemeClr>
                </a:solidFill>
              </a:rPr>
              <a:t>INTRODUCCIÓN </a:t>
            </a:r>
            <a:r>
              <a:rPr lang="es-CO" sz="4800" dirty="0">
                <a:solidFill>
                  <a:schemeClr val="accent2">
                    <a:lumMod val="75000"/>
                  </a:schemeClr>
                </a:solidFill>
              </a:rPr>
              <a:t>A LAS REDES NEURONALES ARTIFICIALES</a:t>
            </a:r>
            <a:endParaRPr lang="en-US" sz="45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835243" y="2861304"/>
            <a:ext cx="1737421" cy="239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José J. Martínez P.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63646" y="3558315"/>
            <a:ext cx="816709" cy="18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 err="1" smtClean="0">
                <a:latin typeface="Arial" pitchFamily="34" charset="0"/>
                <a:ea typeface="Arial" pitchFamily="34" charset="-122"/>
                <a:cs typeface="Arial" pitchFamily="34" charset="-120"/>
              </a:rPr>
              <a:t>Septiembre</a:t>
            </a:r>
            <a:r>
              <a:rPr lang="en-US" sz="105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727995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>
                <a:solidFill>
                  <a:schemeClr val="accent2">
                    <a:lumMod val="75000"/>
                  </a:schemeClr>
                </a:solidFill>
              </a:rPr>
              <a:t>¿Qué es el aprendizaje?</a:t>
            </a:r>
            <a:endParaRPr lang="es-CO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Marcador de contenido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8000" y="1643151"/>
            <a:ext cx="6446838" cy="2865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060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>
                <a:solidFill>
                  <a:schemeClr val="accent2">
                    <a:lumMod val="75000"/>
                  </a:schemeClr>
                </a:solidFill>
              </a:rPr>
              <a:t>¿Qué es el aprendizaje?</a:t>
            </a:r>
            <a:endParaRPr lang="es-CO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s-CO" sz="2000" dirty="0"/>
              <a:t>El modelo mental elimina detalles no pertinentes y enfatiza en los </a:t>
            </a:r>
            <a:r>
              <a:rPr lang="es-CO" sz="2000" dirty="0" smtClean="0"/>
              <a:t>de </a:t>
            </a:r>
            <a:r>
              <a:rPr lang="es-CO" sz="2000" dirty="0"/>
              <a:t>interés.  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CO" sz="2000" dirty="0" smtClean="0"/>
              <a:t>Cambia su </a:t>
            </a:r>
            <a:r>
              <a:rPr lang="es-CO" sz="2000" dirty="0"/>
              <a:t>modelo </a:t>
            </a:r>
            <a:r>
              <a:rPr lang="es-CO" sz="2000" dirty="0" smtClean="0"/>
              <a:t>mental, aprende de la experiencia.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CO" sz="2000" dirty="0" smtClean="0"/>
              <a:t>Es posible solucionar problemas complejos simulando la forma en que lo hacen los animales?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CO" sz="2000" dirty="0" smtClean="0"/>
              <a:t>Se  desarrollaron las </a:t>
            </a:r>
            <a:r>
              <a:rPr lang="es-CO" sz="2000" dirty="0"/>
              <a:t>Redes Neuronales Artificiales, </a:t>
            </a:r>
            <a:r>
              <a:rPr lang="es-CO" sz="2000" dirty="0" err="1" smtClean="0"/>
              <a:t>RNAs</a:t>
            </a:r>
            <a:r>
              <a:rPr lang="es-CO" sz="2000" dirty="0"/>
              <a:t>,</a:t>
            </a:r>
            <a:r>
              <a:rPr lang="es-CO" sz="2000" dirty="0" smtClean="0"/>
              <a:t> modelo </a:t>
            </a:r>
            <a:r>
              <a:rPr lang="es-CO" sz="2000" dirty="0"/>
              <a:t>artificial y simplificado del </a:t>
            </a:r>
            <a:r>
              <a:rPr lang="es-CO" sz="2000" dirty="0" smtClean="0"/>
              <a:t>cerebro</a:t>
            </a:r>
            <a:r>
              <a:rPr lang="es-CO" sz="2000" i="1" dirty="0" smtClean="0"/>
              <a:t>. 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2508255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>
                <a:solidFill>
                  <a:schemeClr val="accent2">
                    <a:lumMod val="75000"/>
                  </a:schemeClr>
                </a:solidFill>
              </a:rPr>
              <a:t>¿Qué es el aprendizaje?</a:t>
            </a:r>
            <a:endParaRPr lang="es-CO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400" dirty="0" smtClean="0"/>
              <a:t>Aprendizaje a partir del entorno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400" dirty="0" smtClean="0"/>
              <a:t>Detección de patrones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400" dirty="0" smtClean="0"/>
              <a:t>Ajuste del modelo mental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400" dirty="0" smtClean="0"/>
              <a:t>Inspiración para Machine </a:t>
            </a:r>
            <a:r>
              <a:rPr lang="es-CO" sz="2400" dirty="0" err="1" smtClean="0"/>
              <a:t>Learning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2236604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>
                <a:solidFill>
                  <a:schemeClr val="accent2">
                    <a:lumMod val="75000"/>
                  </a:schemeClr>
                </a:solidFill>
              </a:rPr>
              <a:t>Historia de las </a:t>
            </a:r>
            <a:r>
              <a:rPr lang="es-CO" dirty="0" err="1" smtClean="0">
                <a:solidFill>
                  <a:schemeClr val="accent2">
                    <a:lumMod val="75000"/>
                  </a:schemeClr>
                </a:solidFill>
              </a:rPr>
              <a:t>RNAs</a:t>
            </a:r>
            <a:endParaRPr lang="es-CO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pPr lvl="1">
              <a:buFont typeface="Wingdings" panose="05000000000000000000" pitchFamily="2" charset="2"/>
              <a:buChar char="Ø"/>
            </a:pPr>
            <a:r>
              <a:rPr sz="2400" dirty="0"/>
              <a:t>1943 – McCulloch &amp; Pitts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sz="2400" dirty="0"/>
              <a:t>1958 – </a:t>
            </a:r>
            <a:r>
              <a:rPr sz="2400" dirty="0" err="1"/>
              <a:t>Perceptrón</a:t>
            </a:r>
            <a:r>
              <a:rPr sz="2400" dirty="0"/>
              <a:t> (Rosenblatt)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sz="2400" dirty="0"/>
              <a:t>1969 – </a:t>
            </a:r>
            <a:r>
              <a:rPr sz="2400" dirty="0" err="1"/>
              <a:t>Minsky</a:t>
            </a:r>
            <a:r>
              <a:rPr sz="2400" dirty="0"/>
              <a:t> &amp; </a:t>
            </a:r>
            <a:r>
              <a:rPr sz="2400" dirty="0" err="1"/>
              <a:t>Papert</a:t>
            </a:r>
            <a:endParaRPr sz="2400" dirty="0"/>
          </a:p>
          <a:p>
            <a:pPr lvl="1">
              <a:buFont typeface="Wingdings" panose="05000000000000000000" pitchFamily="2" charset="2"/>
              <a:buChar char="Ø"/>
            </a:pPr>
            <a:r>
              <a:rPr sz="2400" dirty="0"/>
              <a:t>1980s – </a:t>
            </a:r>
            <a:r>
              <a:rPr sz="2400" dirty="0" err="1"/>
              <a:t>Backpropagation</a:t>
            </a:r>
            <a:endParaRPr sz="2400" dirty="0"/>
          </a:p>
          <a:p>
            <a:pPr lvl="1">
              <a:buFont typeface="Wingdings" panose="05000000000000000000" pitchFamily="2" charset="2"/>
              <a:buChar char="Ø"/>
            </a:pPr>
            <a:r>
              <a:rPr sz="2400" dirty="0"/>
              <a:t>2005 – Hinton y Deep Learning</a:t>
            </a:r>
          </a:p>
        </p:txBody>
      </p:sp>
    </p:spTree>
    <p:extLst>
      <p:ext uri="{BB962C8B-B14F-4D97-AF65-F5344CB8AC3E}">
        <p14:creationId xmlns:p14="http://schemas.microsoft.com/office/powerpoint/2010/main" val="3102357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>
                <a:solidFill>
                  <a:schemeClr val="accent2">
                    <a:lumMod val="75000"/>
                  </a:schemeClr>
                </a:solidFill>
              </a:rPr>
              <a:t>¿</a:t>
            </a:r>
            <a:r>
              <a:rPr lang="es-CO" dirty="0" smtClean="0">
                <a:solidFill>
                  <a:schemeClr val="accent2">
                    <a:lumMod val="75000"/>
                  </a:schemeClr>
                </a:solidFill>
              </a:rPr>
              <a:t>Qué es una Red Neuronal Artificial</a:t>
            </a:r>
            <a:r>
              <a:rPr dirty="0" smtClean="0">
                <a:solidFill>
                  <a:schemeClr val="accent2">
                    <a:lumMod val="75000"/>
                  </a:schemeClr>
                </a:solidFill>
              </a:rPr>
              <a:t>?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620442"/>
            <a:ext cx="6447501" cy="291058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endParaRPr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400" dirty="0" smtClean="0"/>
              <a:t>Modelo matemático inspirado en el cerebro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400" dirty="0" smtClean="0"/>
              <a:t>Clasificación y predicción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400" dirty="0" smtClean="0"/>
              <a:t>Aprendizaje automático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1986897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>
                <a:solidFill>
                  <a:schemeClr val="accent2">
                    <a:lumMod val="75000"/>
                  </a:schemeClr>
                </a:solidFill>
              </a:rPr>
              <a:t>Neurona Natural</a:t>
            </a:r>
            <a:endParaRPr lang="es-CO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000" dirty="0" smtClean="0"/>
              <a:t>Dendritas (entrada)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000" dirty="0" smtClean="0"/>
              <a:t>Soma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000" dirty="0" smtClean="0"/>
              <a:t>Axón (salida)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000" dirty="0" smtClean="0"/>
              <a:t>Sinapsis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000" dirty="0"/>
              <a:t>U</a:t>
            </a:r>
            <a:r>
              <a:rPr lang="es-CO" sz="2000" dirty="0" smtClean="0"/>
              <a:t>mbral</a:t>
            </a:r>
            <a:endParaRPr lang="es-CO" sz="2000" dirty="0"/>
          </a:p>
        </p:txBody>
      </p:sp>
      <p:pic>
        <p:nvPicPr>
          <p:cNvPr id="6" name="Imagen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330" y="2271220"/>
            <a:ext cx="4541520" cy="21710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45376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The synapse (article) | Human biology | Khan Academ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288" y="1437511"/>
            <a:ext cx="5613724" cy="1788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1500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>
                <a:solidFill>
                  <a:schemeClr val="accent2">
                    <a:lumMod val="75000"/>
                  </a:schemeClr>
                </a:solidFill>
              </a:rPr>
              <a:t>Neurona Artificial</a:t>
            </a:r>
            <a:endParaRPr lang="es-CO"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endParaRPr lang="es-CO" dirty="0" smtClean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s-CO" sz="1800" dirty="0" smtClean="0"/>
                  <a:t>Entradas </a:t>
                </a:r>
                <a:r>
                  <a:rPr lang="es-CO" sz="1800" dirty="0"/>
                  <a:t>(X)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s-CO" sz="1800" dirty="0"/>
                  <a:t>Pesos (W)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s-CO" sz="1800" dirty="0" smtClean="0"/>
                  <a:t>Umbral </a:t>
                </a:r>
                <a:r>
                  <a:rPr lang="es-CO" sz="1800" dirty="0"/>
                  <a:t>(</a:t>
                </a:r>
                <a14:m>
                  <m:oMath xmlns:m="http://schemas.openxmlformats.org/officeDocument/2006/math">
                    <m:r>
                      <a:rPr lang="es-CO" sz="18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s-CO" sz="1800" dirty="0"/>
                  <a:t>)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s-CO" sz="1800" dirty="0" smtClean="0"/>
                  <a:t>Z </a:t>
                </a:r>
                <a:r>
                  <a:rPr lang="es-CO" sz="1800" dirty="0"/>
                  <a:t>= W·X </a:t>
                </a:r>
                <a:r>
                  <a:rPr lang="es-CO" sz="1800" dirty="0" smtClean="0"/>
                  <a:t>- </a:t>
                </a:r>
                <a14:m>
                  <m:oMath xmlns:m="http://schemas.openxmlformats.org/officeDocument/2006/math">
                    <m:r>
                      <a:rPr lang="es-CO" sz="18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s-CO" sz="1800" dirty="0" smtClean="0"/>
              </a:p>
              <a:p>
                <a:pPr lvl="1">
                  <a:buFont typeface="Wingdings" panose="05000000000000000000" pitchFamily="2" charset="2"/>
                  <a:buChar char="Ø"/>
                </a:pPr>
                <a:endParaRPr lang="es-CO" sz="1800" dirty="0" smtClean="0"/>
              </a:p>
              <a:p>
                <a:pPr lvl="1">
                  <a:buFont typeface="Wingdings" panose="05000000000000000000" pitchFamily="2" charset="2"/>
                  <a:buChar char="Ø"/>
                </a:pPr>
                <a:endParaRPr lang="es-CO" sz="180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endParaRPr sz="18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n 3"/>
          <p:cNvPicPr/>
          <p:nvPr/>
        </p:nvPicPr>
        <p:blipFill>
          <a:blip r:embed="rId3"/>
          <a:stretch>
            <a:fillRect/>
          </a:stretch>
        </p:blipFill>
        <p:spPr>
          <a:xfrm>
            <a:off x="2696252" y="1447800"/>
            <a:ext cx="4476115" cy="2480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704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>
                <a:solidFill>
                  <a:schemeClr val="accent2">
                    <a:lumMod val="75000"/>
                  </a:schemeClr>
                </a:solidFill>
              </a:rPr>
              <a:t>Neurona Artificial</a:t>
            </a:r>
            <a:endParaRPr lang="es-CO"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Ø"/>
                </a:pPr>
                <a:r>
                  <a:rPr lang="es-CO" dirty="0" smtClean="0"/>
                  <a:t>Cambio de variable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s-CO" sz="1800" dirty="0" smtClean="0"/>
                  <a:t>- </a:t>
                </a:r>
                <a14:m>
                  <m:oMath xmlns:m="http://schemas.openxmlformats.org/officeDocument/2006/math">
                    <m:r>
                      <a:rPr lang="es-CO" sz="18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s-CO" sz="1800" dirty="0" smtClean="0"/>
                  <a:t> = b</a:t>
                </a:r>
                <a:endParaRPr lang="es-CO" sz="18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62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n 4"/>
          <p:cNvPicPr/>
          <p:nvPr/>
        </p:nvPicPr>
        <p:blipFill>
          <a:blip r:embed="rId3"/>
          <a:stretch>
            <a:fillRect/>
          </a:stretch>
        </p:blipFill>
        <p:spPr>
          <a:xfrm>
            <a:off x="2481375" y="1549808"/>
            <a:ext cx="4773314" cy="2638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653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>
                <a:solidFill>
                  <a:schemeClr val="accent2">
                    <a:lumMod val="75000"/>
                  </a:schemeClr>
                </a:solidFill>
              </a:rPr>
              <a:t>Neurona Artificial</a:t>
            </a:r>
            <a:endParaRPr lang="es-CO"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Ø"/>
                </a:pPr>
                <a:endParaRPr lang="es-CO" sz="2400" i="1" dirty="0" smtClean="0"/>
              </a:p>
              <a:p>
                <a:pPr lvl="2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s-CO" sz="2400" i="1"/>
                      <m:t>𝑧</m:t>
                    </m:r>
                    <m:r>
                      <a:rPr lang="es-CO" sz="2400" i="1"/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s-CO" sz="2400" i="1"/>
                        </m:ctrlPr>
                      </m:naryPr>
                      <m:sub>
                        <m:r>
                          <a:rPr lang="es-CO" sz="2400" i="1"/>
                          <m:t>𝑗</m:t>
                        </m:r>
                        <m:r>
                          <a:rPr lang="es-CO" sz="2400" i="1"/>
                          <m:t>=1</m:t>
                        </m:r>
                      </m:sub>
                      <m:sup>
                        <m:r>
                          <a:rPr lang="es-CO" sz="2400" i="1"/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s-CO" sz="2400" i="1"/>
                            </m:ctrlPr>
                          </m:sSubPr>
                          <m:e>
                            <m:r>
                              <a:rPr lang="es-CO" sz="2400" i="1"/>
                              <m:t>𝑤</m:t>
                            </m:r>
                          </m:e>
                          <m:sub>
                            <m:r>
                              <a:rPr lang="es-CO" sz="2400" i="1"/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s-CO" sz="2400" i="1"/>
                            </m:ctrlPr>
                          </m:sSubPr>
                          <m:e>
                            <m:r>
                              <a:rPr lang="es-CO" sz="2400" i="1"/>
                              <m:t>𝑥</m:t>
                            </m:r>
                          </m:e>
                          <m:sub>
                            <m:r>
                              <a:rPr lang="es-CO" sz="2400" i="1"/>
                              <m:t>𝑗</m:t>
                            </m:r>
                          </m:sub>
                        </m:sSub>
                      </m:e>
                    </m:nary>
                    <m:r>
                      <a:rPr lang="es-CO" sz="2400" i="1"/>
                      <m:t>+ </m:t>
                    </m:r>
                    <m:r>
                      <a:rPr lang="es-CO" sz="2400" i="1"/>
                      <m:t>𝑏</m:t>
                    </m:r>
                  </m:oMath>
                </a14:m>
                <a:endParaRPr lang="es-CO" sz="2400" dirty="0" smtClean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s-CO" sz="2400" dirty="0"/>
              </a:p>
              <a:p>
                <a:pPr lvl="2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s-CO" sz="2400" i="1"/>
                      <m:t>𝑧</m:t>
                    </m:r>
                    <m:r>
                      <a:rPr lang="es-CO" sz="2400" i="1"/>
                      <m:t>= </m:t>
                    </m:r>
                    <m:r>
                      <a:rPr lang="es-CO" sz="2400" i="1"/>
                      <m:t>𝑏</m:t>
                    </m:r>
                    <m:r>
                      <a:rPr lang="es-CO" sz="2400" i="1"/>
                      <m:t>∗1+(</m:t>
                    </m:r>
                    <m:sSub>
                      <m:sSubPr>
                        <m:ctrlPr>
                          <a:rPr lang="es-CO" sz="2400" i="1"/>
                        </m:ctrlPr>
                      </m:sSubPr>
                      <m:e>
                        <m:r>
                          <a:rPr lang="es-CO" sz="2400" i="1"/>
                          <m:t>𝑤</m:t>
                        </m:r>
                      </m:e>
                      <m:sub>
                        <m:r>
                          <a:rPr lang="es-CO" sz="2400" i="1"/>
                          <m:t>1</m:t>
                        </m:r>
                      </m:sub>
                    </m:sSub>
                    <m:sSub>
                      <m:sSubPr>
                        <m:ctrlPr>
                          <a:rPr lang="es-CO" sz="2400" i="1"/>
                        </m:ctrlPr>
                      </m:sSubPr>
                      <m:e>
                        <m:r>
                          <a:rPr lang="es-CO" sz="2400" i="1"/>
                          <m:t>𝑥</m:t>
                        </m:r>
                      </m:e>
                      <m:sub>
                        <m:r>
                          <a:rPr lang="es-CO" sz="2400" i="1"/>
                          <m:t>1</m:t>
                        </m:r>
                      </m:sub>
                    </m:sSub>
                    <m:r>
                      <a:rPr lang="es-CO" sz="2400" i="1"/>
                      <m:t>+</m:t>
                    </m:r>
                    <m:sSub>
                      <m:sSubPr>
                        <m:ctrlPr>
                          <a:rPr lang="es-CO" sz="2400" i="1"/>
                        </m:ctrlPr>
                      </m:sSubPr>
                      <m:e>
                        <m:r>
                          <a:rPr lang="es-CO" sz="2400" i="1"/>
                          <m:t>𝑤</m:t>
                        </m:r>
                      </m:e>
                      <m:sub>
                        <m:r>
                          <a:rPr lang="es-CO" sz="2400" i="1"/>
                          <m:t>2</m:t>
                        </m:r>
                      </m:sub>
                    </m:sSub>
                    <m:sSub>
                      <m:sSubPr>
                        <m:ctrlPr>
                          <a:rPr lang="es-CO" sz="2400" i="1"/>
                        </m:ctrlPr>
                      </m:sSubPr>
                      <m:e>
                        <m:r>
                          <a:rPr lang="es-CO" sz="2400" i="1"/>
                          <m:t>𝑥</m:t>
                        </m:r>
                      </m:e>
                      <m:sub>
                        <m:r>
                          <a:rPr lang="es-CO" sz="2400" i="1"/>
                          <m:t>2</m:t>
                        </m:r>
                      </m:sub>
                    </m:sSub>
                    <m:r>
                      <a:rPr lang="es-CO" sz="2400" i="1"/>
                      <m:t>+…+ </m:t>
                    </m:r>
                    <m:sSub>
                      <m:sSubPr>
                        <m:ctrlPr>
                          <a:rPr lang="es-CO" sz="2400" i="1"/>
                        </m:ctrlPr>
                      </m:sSubPr>
                      <m:e>
                        <m:r>
                          <a:rPr lang="es-CO" sz="2400" i="1"/>
                          <m:t>𝑤</m:t>
                        </m:r>
                      </m:e>
                      <m:sub>
                        <m:r>
                          <a:rPr lang="es-CO" sz="2400" i="1"/>
                          <m:t>𝑛</m:t>
                        </m:r>
                      </m:sub>
                    </m:sSub>
                    <m:sSub>
                      <m:sSubPr>
                        <m:ctrlPr>
                          <a:rPr lang="es-CO" sz="2400" i="1"/>
                        </m:ctrlPr>
                      </m:sSubPr>
                      <m:e>
                        <m:r>
                          <a:rPr lang="es-CO" sz="2400" i="1"/>
                          <m:t>𝑥</m:t>
                        </m:r>
                      </m:e>
                      <m:sub>
                        <m:r>
                          <a:rPr lang="es-CO" sz="2400" i="1"/>
                          <m:t>𝑛</m:t>
                        </m:r>
                      </m:sub>
                    </m:sSub>
                    <m:r>
                      <a:rPr lang="es-CO" sz="2400" i="1"/>
                      <m:t>)</m:t>
                    </m:r>
                  </m:oMath>
                </a14:m>
                <a:endParaRPr lang="es-CO" sz="2400" dirty="0" smtClean="0"/>
              </a:p>
              <a:p>
                <a:pPr lvl="1">
                  <a:buFont typeface="Wingdings" panose="05000000000000000000" pitchFamily="2" charset="2"/>
                  <a:buChar char="Ø"/>
                </a:pPr>
                <a:endParaRPr lang="es-CO" sz="180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endParaRPr sz="18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461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6050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>
                <a:solidFill>
                  <a:schemeClr val="accent2">
                    <a:lumMod val="75000"/>
                  </a:schemeClr>
                </a:solidFill>
              </a:rPr>
              <a:t>Funciones de Activación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lang="es-CO" sz="2400" dirty="0" smtClean="0"/>
              <a:t>Función de activación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s-CO" sz="2400" dirty="0" smtClean="0"/>
              <a:t>Le da complejidad a la red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288" y="2571749"/>
            <a:ext cx="4352925" cy="191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970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>
                <a:solidFill>
                  <a:schemeClr val="accent2">
                    <a:lumMod val="75000"/>
                  </a:schemeClr>
                </a:solidFill>
              </a:rPr>
              <a:t>Funciones de Activación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30363" y="1613970"/>
                <a:ext cx="6447501" cy="2910580"/>
              </a:xfrm>
            </p:spPr>
            <p:txBody>
              <a:bodyPr>
                <a:normAutofit/>
              </a:bodyPr>
              <a:lstStyle/>
              <a:p>
                <a:pPr marL="342900" lvl="2" indent="-342900">
                  <a:buFont typeface="Wingdings" panose="05000000000000000000" pitchFamily="2" charset="2"/>
                  <a:buChar char="Ø"/>
                </a:pPr>
                <a:endParaRPr lang="es-CO" sz="2400" i="1" dirty="0" smtClean="0"/>
              </a:p>
              <a:p>
                <a:pPr marL="342900" lvl="2" indent="-3429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s-CO" sz="2400" i="1"/>
                      <m:t>𝑧</m:t>
                    </m:r>
                    <m:r>
                      <a:rPr lang="es-CO" sz="2400" i="1"/>
                      <m:t>= </m:t>
                    </m:r>
                    <m:r>
                      <a:rPr lang="es-CO" sz="2400" i="1"/>
                      <m:t>𝑏</m:t>
                    </m:r>
                    <m:r>
                      <a:rPr lang="es-CO" sz="2400" i="1"/>
                      <m:t>∗1+(</m:t>
                    </m:r>
                    <m:sSub>
                      <m:sSubPr>
                        <m:ctrlPr>
                          <a:rPr lang="es-CO" sz="2400" i="1"/>
                        </m:ctrlPr>
                      </m:sSubPr>
                      <m:e>
                        <m:r>
                          <a:rPr lang="es-CO" sz="2400" i="1"/>
                          <m:t>𝑤</m:t>
                        </m:r>
                      </m:e>
                      <m:sub>
                        <m:r>
                          <a:rPr lang="es-CO" sz="2400" i="1"/>
                          <m:t>1</m:t>
                        </m:r>
                      </m:sub>
                    </m:sSub>
                    <m:sSub>
                      <m:sSubPr>
                        <m:ctrlPr>
                          <a:rPr lang="es-CO" sz="2400" i="1"/>
                        </m:ctrlPr>
                      </m:sSubPr>
                      <m:e>
                        <m:r>
                          <a:rPr lang="es-CO" sz="2400" i="1"/>
                          <m:t>𝑥</m:t>
                        </m:r>
                      </m:e>
                      <m:sub>
                        <m:r>
                          <a:rPr lang="es-CO" sz="2400" i="1"/>
                          <m:t>1</m:t>
                        </m:r>
                      </m:sub>
                    </m:sSub>
                    <m:r>
                      <a:rPr lang="es-CO" sz="2400" i="1"/>
                      <m:t>+</m:t>
                    </m:r>
                    <m:sSub>
                      <m:sSubPr>
                        <m:ctrlPr>
                          <a:rPr lang="es-CO" sz="2400" i="1"/>
                        </m:ctrlPr>
                      </m:sSubPr>
                      <m:e>
                        <m:r>
                          <a:rPr lang="es-CO" sz="2400" i="1"/>
                          <m:t>𝑤</m:t>
                        </m:r>
                      </m:e>
                      <m:sub>
                        <m:r>
                          <a:rPr lang="es-CO" sz="2400" i="1"/>
                          <m:t>2</m:t>
                        </m:r>
                      </m:sub>
                    </m:sSub>
                    <m:sSub>
                      <m:sSubPr>
                        <m:ctrlPr>
                          <a:rPr lang="es-CO" sz="2400" i="1"/>
                        </m:ctrlPr>
                      </m:sSubPr>
                      <m:e>
                        <m:r>
                          <a:rPr lang="es-CO" sz="2400" i="1"/>
                          <m:t>𝑥</m:t>
                        </m:r>
                      </m:e>
                      <m:sub>
                        <m:r>
                          <a:rPr lang="es-CO" sz="2400" i="1"/>
                          <m:t>2</m:t>
                        </m:r>
                      </m:sub>
                    </m:sSub>
                    <m:r>
                      <a:rPr lang="es-CO" sz="2400" i="1"/>
                      <m:t>+…+ </m:t>
                    </m:r>
                    <m:sSub>
                      <m:sSubPr>
                        <m:ctrlPr>
                          <a:rPr lang="es-CO" sz="2400" i="1"/>
                        </m:ctrlPr>
                      </m:sSubPr>
                      <m:e>
                        <m:r>
                          <a:rPr lang="es-CO" sz="2400" i="1"/>
                          <m:t>𝑤</m:t>
                        </m:r>
                      </m:e>
                      <m:sub>
                        <m:r>
                          <a:rPr lang="es-CO" sz="2400" i="1"/>
                          <m:t>𝑛</m:t>
                        </m:r>
                      </m:sub>
                    </m:sSub>
                    <m:sSub>
                      <m:sSubPr>
                        <m:ctrlPr>
                          <a:rPr lang="es-CO" sz="2400" i="1"/>
                        </m:ctrlPr>
                      </m:sSubPr>
                      <m:e>
                        <m:r>
                          <a:rPr lang="es-CO" sz="2400" i="1"/>
                          <m:t>𝑥</m:t>
                        </m:r>
                      </m:e>
                      <m:sub>
                        <m:r>
                          <a:rPr lang="es-CO" sz="2400" i="1"/>
                          <m:t>𝑛</m:t>
                        </m:r>
                      </m:sub>
                    </m:sSub>
                    <m:r>
                      <a:rPr lang="es-CO" sz="2400" i="1"/>
                      <m:t>)</m:t>
                    </m:r>
                  </m:oMath>
                </a14:m>
                <a:endParaRPr lang="es-CO" sz="2400" dirty="0" smtClean="0"/>
              </a:p>
              <a:p>
                <a:pPr marL="342900" lvl="2" indent="-342900">
                  <a:buFont typeface="Wingdings" panose="05000000000000000000" pitchFamily="2" charset="2"/>
                  <a:buChar char="Ø"/>
                </a:pPr>
                <a:endParaRPr lang="es-CO" sz="2400" i="1" dirty="0" smtClean="0"/>
              </a:p>
              <a:p>
                <a:pPr marL="342900" lvl="2" indent="-3429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s-CO" sz="2400" i="1"/>
                      <m:t>𝐴</m:t>
                    </m:r>
                    <m:r>
                      <a:rPr lang="es-CO" sz="2400" i="1"/>
                      <m:t>=</m:t>
                    </m:r>
                    <m:r>
                      <a:rPr lang="es-CO" sz="2400" i="1"/>
                      <m:t>𝑔</m:t>
                    </m:r>
                    <m:r>
                      <a:rPr lang="es-CO" sz="2400" i="1"/>
                      <m:t>(</m:t>
                    </m:r>
                    <m:r>
                      <a:rPr lang="es-CO" sz="2400" i="1"/>
                      <m:t>𝑍</m:t>
                    </m:r>
                    <m:r>
                      <a:rPr lang="es-CO" sz="2400" i="1"/>
                      <m:t>)</m:t>
                    </m:r>
                  </m:oMath>
                </a14:m>
                <a:r>
                  <a:rPr lang="es-CO" sz="2400" dirty="0" smtClean="0"/>
                  <a:t>, aplicación de la función de activación</a:t>
                </a:r>
                <a:endParaRPr lang="es-CO" sz="2400" dirty="0"/>
              </a:p>
              <a:p>
                <a:endParaRPr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0363" y="1613970"/>
                <a:ext cx="6447501" cy="2910580"/>
              </a:xfrm>
              <a:blipFill rotWithShape="0">
                <a:blip r:embed="rId2"/>
                <a:stretch>
                  <a:fillRect l="-75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3661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>
                <a:solidFill>
                  <a:schemeClr val="accent2">
                    <a:lumMod val="75000"/>
                  </a:schemeClr>
                </a:solidFill>
              </a:rPr>
              <a:t>Funciones de Activación</a:t>
            </a:r>
            <a:endParaRPr lang="es-CO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800" dirty="0" smtClean="0"/>
              <a:t>Paso unitario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800" dirty="0" err="1" smtClean="0"/>
              <a:t>Sigmoide</a:t>
            </a:r>
            <a:endParaRPr lang="es-CO" sz="2800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800" dirty="0" err="1" smtClean="0"/>
              <a:t>ReLU</a:t>
            </a:r>
            <a:endParaRPr lang="es-CO" sz="2800" dirty="0"/>
          </a:p>
        </p:txBody>
      </p:sp>
    </p:spTree>
    <p:extLst>
      <p:ext uri="{BB962C8B-B14F-4D97-AF65-F5344CB8AC3E}">
        <p14:creationId xmlns:p14="http://schemas.microsoft.com/office/powerpoint/2010/main" val="1489845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>
                <a:solidFill>
                  <a:schemeClr val="accent2">
                    <a:lumMod val="75000"/>
                  </a:schemeClr>
                </a:solidFill>
              </a:rPr>
              <a:t>Función Paso unitario</a:t>
            </a:r>
            <a:endParaRPr lang="es-CO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000" dirty="0" smtClean="0"/>
              <a:t>Salida entre 0 y 1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000" dirty="0" smtClean="0"/>
              <a:t>No d</a:t>
            </a:r>
            <a:r>
              <a:rPr sz="2000" dirty="0" err="1" smtClean="0"/>
              <a:t>erivable</a:t>
            </a:r>
            <a:endParaRPr sz="2000" dirty="0"/>
          </a:p>
        </p:txBody>
      </p:sp>
      <p:pic>
        <p:nvPicPr>
          <p:cNvPr id="5" name="Imagen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3762" y="1700331"/>
            <a:ext cx="2566516" cy="18816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7417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>
                <a:solidFill>
                  <a:schemeClr val="accent2">
                    <a:lumMod val="75000"/>
                  </a:schemeClr>
                </a:solidFill>
              </a:rPr>
              <a:t>Función </a:t>
            </a:r>
            <a:r>
              <a:rPr lang="es-CO" dirty="0" err="1" smtClean="0">
                <a:solidFill>
                  <a:schemeClr val="accent2">
                    <a:lumMod val="75000"/>
                  </a:schemeClr>
                </a:solidFill>
              </a:rPr>
              <a:t>Sigmoide</a:t>
            </a:r>
            <a:endParaRPr lang="es-CO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000" dirty="0" smtClean="0"/>
              <a:t>Salida entre 0 y 1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sz="2000" dirty="0" smtClean="0"/>
              <a:t>Derivable</a:t>
            </a:r>
            <a:endParaRPr sz="2000" dirty="0"/>
          </a:p>
        </p:txBody>
      </p:sp>
      <p:pic>
        <p:nvPicPr>
          <p:cNvPr id="4" name="Picture 3" descr="sigmo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963" y="1517181"/>
            <a:ext cx="36576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341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>
                <a:solidFill>
                  <a:schemeClr val="accent2">
                    <a:lumMod val="75000"/>
                  </a:schemeClr>
                </a:solidFill>
              </a:rPr>
              <a:t>Función </a:t>
            </a:r>
            <a:r>
              <a:rPr lang="es-CO" dirty="0" err="1" smtClean="0">
                <a:solidFill>
                  <a:schemeClr val="accent2">
                    <a:lumMod val="75000"/>
                  </a:schemeClr>
                </a:solidFill>
              </a:rPr>
              <a:t>ReLU</a:t>
            </a:r>
            <a:endParaRPr lang="es-CO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1800" dirty="0" smtClean="0"/>
              <a:t>Muy usada en </a:t>
            </a:r>
            <a:r>
              <a:rPr lang="es-CO" sz="1800" dirty="0" err="1" smtClean="0"/>
              <a:t>Deep</a:t>
            </a:r>
            <a:endParaRPr lang="es-CO" sz="1800" dirty="0" smtClean="0"/>
          </a:p>
          <a:p>
            <a:pPr marL="342900" lvl="1" indent="0">
              <a:buNone/>
            </a:pPr>
            <a:r>
              <a:rPr lang="es-CO" sz="1800" dirty="0"/>
              <a:t> </a:t>
            </a:r>
            <a:r>
              <a:rPr lang="es-CO" sz="1800" dirty="0" smtClean="0"/>
              <a:t>   </a:t>
            </a:r>
            <a:r>
              <a:rPr lang="es-CO" sz="1800" dirty="0" err="1" smtClean="0"/>
              <a:t>Learning</a:t>
            </a:r>
            <a:endParaRPr lang="es-CO" sz="1800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1800" dirty="0" smtClean="0"/>
              <a:t>Evita gradientes </a:t>
            </a:r>
          </a:p>
          <a:p>
            <a:pPr marL="342900" lvl="1" indent="0">
              <a:buNone/>
            </a:pPr>
            <a:r>
              <a:rPr lang="es-CO" sz="1800" dirty="0"/>
              <a:t> </a:t>
            </a:r>
            <a:r>
              <a:rPr lang="es-CO" sz="1800" dirty="0" smtClean="0"/>
              <a:t>    pequeños</a:t>
            </a:r>
          </a:p>
          <a:p>
            <a:pPr marL="342900" lvl="1" indent="0">
              <a:buNone/>
            </a:pPr>
            <a:r>
              <a:rPr lang="es-CO" sz="1800" dirty="0" smtClean="0"/>
              <a:t>En muchos casos se usa</a:t>
            </a:r>
          </a:p>
          <a:p>
            <a:pPr marL="342900" lvl="1" indent="0">
              <a:buNone/>
            </a:pPr>
            <a:r>
              <a:rPr lang="es-CO" sz="1800" dirty="0" err="1" smtClean="0"/>
              <a:t>ReLu</a:t>
            </a:r>
            <a:r>
              <a:rPr lang="es-CO" sz="1800" dirty="0" smtClean="0"/>
              <a:t> en las capas </a:t>
            </a:r>
          </a:p>
          <a:p>
            <a:pPr marL="342900" lvl="1" indent="0">
              <a:buNone/>
            </a:pPr>
            <a:r>
              <a:rPr lang="es-CO" sz="1800" dirty="0" smtClean="0"/>
              <a:t>Internas y en la final </a:t>
            </a:r>
            <a:r>
              <a:rPr lang="es-CO" sz="1800" dirty="0" err="1" smtClean="0"/>
              <a:t>Sigmoide</a:t>
            </a:r>
            <a:r>
              <a:rPr lang="es-CO" sz="1800" dirty="0" smtClean="0"/>
              <a:t> </a:t>
            </a:r>
            <a:endParaRPr lang="es-CO" sz="1800" dirty="0"/>
          </a:p>
        </p:txBody>
      </p:sp>
      <p:pic>
        <p:nvPicPr>
          <p:cNvPr id="4" name="Picture 3" descr="rel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1032" y="1302811"/>
            <a:ext cx="36576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701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>
                <a:solidFill>
                  <a:schemeClr val="accent2">
                    <a:lumMod val="75000"/>
                  </a:schemeClr>
                </a:solidFill>
              </a:rPr>
              <a:t>Ejemplos de clasificación</a:t>
            </a:r>
            <a:endParaRPr lang="es-CO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>
                <a:alpha val="56000"/>
              </a:schemeClr>
            </a:solidFill>
          </a:ln>
        </p:spPr>
        <p:txBody>
          <a:bodyPr/>
          <a:lstStyle/>
          <a:p>
            <a:r>
              <a:rPr lang="es-CO" sz="1800" dirty="0" smtClean="0"/>
              <a:t>Compuerta AND, activación </a:t>
            </a:r>
            <a:r>
              <a:rPr lang="es-CO" sz="1800" dirty="0" err="1" smtClean="0"/>
              <a:t>sigmoidal</a:t>
            </a:r>
            <a:endParaRPr lang="es-CO" sz="1800" dirty="0" smtClean="0"/>
          </a:p>
          <a:p>
            <a:endParaRPr lang="es-CO" sz="1800" dirty="0" smtClean="0"/>
          </a:p>
        </p:txBody>
      </p:sp>
      <p:pic>
        <p:nvPicPr>
          <p:cNvPr id="4" name="Imagen 3"/>
          <p:cNvPicPr/>
          <p:nvPr/>
        </p:nvPicPr>
        <p:blipFill>
          <a:blip r:embed="rId2"/>
          <a:stretch>
            <a:fillRect/>
          </a:stretch>
        </p:blipFill>
        <p:spPr>
          <a:xfrm>
            <a:off x="3342082" y="2401108"/>
            <a:ext cx="2891155" cy="1514475"/>
          </a:xfrm>
          <a:prstGeom prst="rect">
            <a:avLst/>
          </a:prstGeom>
        </p:spPr>
      </p:pic>
      <p:sp>
        <p:nvSpPr>
          <p:cNvPr id="9" name="Rectángulo 8"/>
          <p:cNvSpPr/>
          <p:nvPr/>
        </p:nvSpPr>
        <p:spPr>
          <a:xfrm>
            <a:off x="896489" y="2974195"/>
            <a:ext cx="229235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l-PL" dirty="0">
                <a:solidFill>
                  <a:srgbClr val="000000"/>
                </a:solidFill>
                <a:latin typeface="Calibri" panose="020F0502020204030204" pitchFamily="34" charset="0"/>
              </a:rPr>
              <a:t>X1</a:t>
            </a:r>
            <a:r>
              <a:rPr lang="pl-PL" dirty="0"/>
              <a:t> </a:t>
            </a:r>
            <a:r>
              <a:rPr lang="pl-PL" dirty="0">
                <a:solidFill>
                  <a:srgbClr val="000000"/>
                </a:solidFill>
                <a:latin typeface="Calibri" panose="020F0502020204030204" pitchFamily="34" charset="0"/>
              </a:rPr>
              <a:t>X2</a:t>
            </a:r>
            <a:r>
              <a:rPr lang="pl-PL" dirty="0"/>
              <a:t> </a:t>
            </a:r>
            <a:r>
              <a:rPr lang="pl-PL" dirty="0">
                <a:solidFill>
                  <a:srgbClr val="000000"/>
                </a:solidFill>
                <a:latin typeface="Calibri" panose="020F0502020204030204" pitchFamily="34" charset="0"/>
              </a:rPr>
              <a:t>b</a:t>
            </a:r>
            <a:r>
              <a:rPr lang="pl-PL" dirty="0"/>
              <a:t> </a:t>
            </a:r>
            <a:r>
              <a:rPr lang="pl-PL" dirty="0">
                <a:solidFill>
                  <a:srgbClr val="000000"/>
                </a:solidFill>
                <a:latin typeface="Calibri" panose="020F0502020204030204" pitchFamily="34" charset="0"/>
              </a:rPr>
              <a:t>w1</a:t>
            </a:r>
            <a:r>
              <a:rPr lang="pl-PL" dirty="0"/>
              <a:t> </a:t>
            </a:r>
            <a:r>
              <a:rPr lang="pl-PL" dirty="0">
                <a:solidFill>
                  <a:srgbClr val="000000"/>
                </a:solidFill>
                <a:latin typeface="Calibri" panose="020F0502020204030204" pitchFamily="34" charset="0"/>
              </a:rPr>
              <a:t>w2</a:t>
            </a:r>
            <a:r>
              <a:rPr lang="pl-PL" dirty="0"/>
              <a:t> </a:t>
            </a:r>
            <a:r>
              <a:rPr lang="pl-PL" dirty="0">
                <a:solidFill>
                  <a:srgbClr val="000000"/>
                </a:solidFill>
                <a:latin typeface="Calibri" panose="020F0502020204030204" pitchFamily="34" charset="0"/>
              </a:rPr>
              <a:t>Z</a:t>
            </a:r>
            <a:r>
              <a:rPr lang="pl-PL" dirty="0"/>
              <a:t> </a:t>
            </a:r>
            <a:r>
              <a:rPr lang="pl-PL" dirty="0">
                <a:solidFill>
                  <a:srgbClr val="000000"/>
                </a:solidFill>
                <a:latin typeface="Calibri" panose="020F0502020204030204" pitchFamily="34" charset="0"/>
              </a:rPr>
              <a:t>g(Z)</a:t>
            </a:r>
            <a:r>
              <a:rPr lang="pl-PL" dirty="0"/>
              <a:t> 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17266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>
                <a:solidFill>
                  <a:schemeClr val="accent2">
                    <a:lumMod val="75000"/>
                  </a:schemeClr>
                </a:solidFill>
              </a:rPr>
              <a:t>Ejemplos de clasificación</a:t>
            </a:r>
            <a:endParaRPr lang="es-CO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>
                <a:alpha val="56000"/>
              </a:schemeClr>
            </a:solidFill>
          </a:ln>
        </p:spPr>
        <p:txBody>
          <a:bodyPr/>
          <a:lstStyle/>
          <a:p>
            <a:r>
              <a:rPr lang="es-CO" sz="1800" dirty="0" smtClean="0"/>
              <a:t>Compuerta </a:t>
            </a:r>
            <a:r>
              <a:rPr lang="es-CO" sz="1800" dirty="0" smtClean="0"/>
              <a:t>OR</a:t>
            </a:r>
            <a:r>
              <a:rPr lang="es-CO" sz="1800" dirty="0" smtClean="0"/>
              <a:t>, </a:t>
            </a:r>
            <a:r>
              <a:rPr lang="es-CO" sz="1800" dirty="0" smtClean="0"/>
              <a:t>activación </a:t>
            </a:r>
            <a:r>
              <a:rPr lang="es-CO" sz="1800" dirty="0" err="1" smtClean="0"/>
              <a:t>sigmoidal</a:t>
            </a:r>
            <a:endParaRPr lang="es-CO" sz="1800" dirty="0" smtClean="0"/>
          </a:p>
          <a:p>
            <a:endParaRPr lang="es-CO" sz="1800" dirty="0" smtClean="0"/>
          </a:p>
        </p:txBody>
      </p:sp>
      <p:pic>
        <p:nvPicPr>
          <p:cNvPr id="4" name="Imagen 3"/>
          <p:cNvPicPr/>
          <p:nvPr/>
        </p:nvPicPr>
        <p:blipFill>
          <a:blip r:embed="rId2"/>
          <a:stretch>
            <a:fillRect/>
          </a:stretch>
        </p:blipFill>
        <p:spPr>
          <a:xfrm>
            <a:off x="3342082" y="2401108"/>
            <a:ext cx="2891155" cy="1514475"/>
          </a:xfrm>
          <a:prstGeom prst="rect">
            <a:avLst/>
          </a:prstGeom>
        </p:spPr>
      </p:pic>
      <p:sp>
        <p:nvSpPr>
          <p:cNvPr id="9" name="Rectángulo 8"/>
          <p:cNvSpPr/>
          <p:nvPr/>
        </p:nvSpPr>
        <p:spPr>
          <a:xfrm>
            <a:off x="896489" y="2974195"/>
            <a:ext cx="229235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l-PL" dirty="0">
                <a:solidFill>
                  <a:srgbClr val="000000"/>
                </a:solidFill>
                <a:latin typeface="Calibri" panose="020F0502020204030204" pitchFamily="34" charset="0"/>
              </a:rPr>
              <a:t>X1</a:t>
            </a:r>
            <a:r>
              <a:rPr lang="pl-PL" dirty="0"/>
              <a:t> </a:t>
            </a:r>
            <a:r>
              <a:rPr lang="pl-PL" dirty="0">
                <a:solidFill>
                  <a:srgbClr val="000000"/>
                </a:solidFill>
                <a:latin typeface="Calibri" panose="020F0502020204030204" pitchFamily="34" charset="0"/>
              </a:rPr>
              <a:t>X2</a:t>
            </a:r>
            <a:r>
              <a:rPr lang="pl-PL" dirty="0"/>
              <a:t> </a:t>
            </a:r>
            <a:r>
              <a:rPr lang="pl-PL" dirty="0">
                <a:solidFill>
                  <a:srgbClr val="000000"/>
                </a:solidFill>
                <a:latin typeface="Calibri" panose="020F0502020204030204" pitchFamily="34" charset="0"/>
              </a:rPr>
              <a:t>b</a:t>
            </a:r>
            <a:r>
              <a:rPr lang="pl-PL" dirty="0"/>
              <a:t> </a:t>
            </a:r>
            <a:r>
              <a:rPr lang="pl-PL" dirty="0">
                <a:solidFill>
                  <a:srgbClr val="000000"/>
                </a:solidFill>
                <a:latin typeface="Calibri" panose="020F0502020204030204" pitchFamily="34" charset="0"/>
              </a:rPr>
              <a:t>w1</a:t>
            </a:r>
            <a:r>
              <a:rPr lang="pl-PL" dirty="0"/>
              <a:t> </a:t>
            </a:r>
            <a:r>
              <a:rPr lang="pl-PL" dirty="0">
                <a:solidFill>
                  <a:srgbClr val="000000"/>
                </a:solidFill>
                <a:latin typeface="Calibri" panose="020F0502020204030204" pitchFamily="34" charset="0"/>
              </a:rPr>
              <a:t>w2</a:t>
            </a:r>
            <a:r>
              <a:rPr lang="pl-PL" dirty="0"/>
              <a:t> </a:t>
            </a:r>
            <a:r>
              <a:rPr lang="pl-PL" dirty="0">
                <a:solidFill>
                  <a:srgbClr val="000000"/>
                </a:solidFill>
                <a:latin typeface="Calibri" panose="020F0502020204030204" pitchFamily="34" charset="0"/>
              </a:rPr>
              <a:t>Z</a:t>
            </a:r>
            <a:r>
              <a:rPr lang="pl-PL" dirty="0"/>
              <a:t> </a:t>
            </a:r>
            <a:r>
              <a:rPr lang="pl-PL" dirty="0">
                <a:solidFill>
                  <a:srgbClr val="000000"/>
                </a:solidFill>
                <a:latin typeface="Calibri" panose="020F0502020204030204" pitchFamily="34" charset="0"/>
              </a:rPr>
              <a:t>g(Z)</a:t>
            </a:r>
            <a:r>
              <a:rPr lang="pl-PL" dirty="0"/>
              <a:t> 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54124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>
                <a:solidFill>
                  <a:schemeClr val="accent2">
                    <a:lumMod val="75000"/>
                  </a:schemeClr>
                </a:solidFill>
              </a:rPr>
              <a:t>Generalización</a:t>
            </a:r>
            <a:endParaRPr lang="es-CO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400" dirty="0" err="1" smtClean="0"/>
              <a:t>Underfitting</a:t>
            </a:r>
            <a:endParaRPr lang="es-CO" sz="2400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400" dirty="0" smtClean="0"/>
              <a:t>Ajuste adecuado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400" dirty="0" err="1" smtClean="0"/>
              <a:t>Overfitting</a:t>
            </a:r>
            <a:endParaRPr lang="es-CO" sz="2400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400" dirty="0" smtClean="0"/>
              <a:t>División del data set: entrenamiento, validación, prueba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2546566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>
                <a:solidFill>
                  <a:schemeClr val="accent2">
                    <a:lumMod val="75000"/>
                  </a:schemeClr>
                </a:solidFill>
              </a:rPr>
              <a:t>Evolución de la Pérdida</a:t>
            </a:r>
            <a:endParaRPr lang="es-CO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405" y="1582110"/>
            <a:ext cx="6447501" cy="2910580"/>
          </a:xfrm>
        </p:spPr>
        <p:txBody>
          <a:bodyPr/>
          <a:lstStyle/>
          <a:p>
            <a:endParaRPr dirty="0"/>
          </a:p>
          <a:p>
            <a:pPr lvl="1"/>
            <a:r>
              <a:rPr lang="es-CO" sz="2000" dirty="0" smtClean="0"/>
              <a:t>Entrenamiento por </a:t>
            </a:r>
          </a:p>
          <a:p>
            <a:pPr marL="342900" lvl="1" indent="0">
              <a:buNone/>
            </a:pPr>
            <a:r>
              <a:rPr lang="es-CO" sz="2000" dirty="0" smtClean="0"/>
              <a:t>   épocas</a:t>
            </a:r>
          </a:p>
          <a:p>
            <a:pPr lvl="1"/>
            <a:r>
              <a:rPr lang="es-CO" sz="2000" dirty="0" smtClean="0"/>
              <a:t>Reducción progresiva</a:t>
            </a:r>
          </a:p>
          <a:p>
            <a:pPr marL="342900" lvl="1" indent="0">
              <a:buNone/>
            </a:pPr>
            <a:r>
              <a:rPr lang="es-CO" sz="2000" dirty="0"/>
              <a:t> </a:t>
            </a:r>
            <a:r>
              <a:rPr lang="es-CO" sz="2000" dirty="0" smtClean="0"/>
              <a:t>  del error</a:t>
            </a:r>
            <a:endParaRPr lang="es-CO" sz="2000" dirty="0"/>
          </a:p>
        </p:txBody>
      </p:sp>
      <p:pic>
        <p:nvPicPr>
          <p:cNvPr id="4" name="Picture 3" descr="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799" y="1103345"/>
            <a:ext cx="3657600" cy="274320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100" y="3498966"/>
            <a:ext cx="1752600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396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>
                <a:solidFill>
                  <a:schemeClr val="accent2">
                    <a:lumMod val="75000"/>
                  </a:schemeClr>
                </a:solidFill>
              </a:rPr>
              <a:t>Clasificación con </a:t>
            </a:r>
            <a:r>
              <a:rPr lang="es-CO" dirty="0" err="1" smtClean="0">
                <a:solidFill>
                  <a:schemeClr val="accent2">
                    <a:lumMod val="75000"/>
                  </a:schemeClr>
                </a:solidFill>
              </a:rPr>
              <a:t>RNAs</a:t>
            </a:r>
            <a:endParaRPr lang="es-CO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400" dirty="0" smtClean="0"/>
              <a:t>Compuertas AND, OR, NOT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400" dirty="0" smtClean="0"/>
              <a:t>Redes multicapa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400" dirty="0" smtClean="0"/>
              <a:t>Importancia de los pesos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740435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>
                <a:solidFill>
                  <a:schemeClr val="accent2">
                    <a:lumMod val="75000"/>
                  </a:schemeClr>
                </a:solidFill>
              </a:rPr>
              <a:t>Propagación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1882" y="1620838"/>
            <a:ext cx="3779074" cy="2909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359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>
                <a:solidFill>
                  <a:schemeClr val="accent2">
                    <a:lumMod val="75000"/>
                  </a:schemeClr>
                </a:solidFill>
              </a:rPr>
              <a:t>Propagación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3435" y="1900626"/>
            <a:ext cx="4886325" cy="16097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ángulo 2"/>
              <p:cNvSpPr/>
              <p:nvPr/>
            </p:nvSpPr>
            <p:spPr>
              <a:xfrm>
                <a:off x="2647433" y="3758088"/>
                <a:ext cx="2685351" cy="4101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s-CO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p>
                          <m:r>
                            <a:rPr lang="es-CO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(1)</m:t>
                          </m:r>
                        </m:sup>
                      </m:sSup>
                      <m:r>
                        <a:rPr lang="es-CO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= </m:t>
                      </m:r>
                      <m:sSup>
                        <m:sSupPr>
                          <m:ctrlPr>
                            <a:rPr lang="es-CO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s-CO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s-CO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p>
                      <m:r>
                        <a:rPr lang="es-CO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 </m:t>
                      </m:r>
                      <m:d>
                        <m:dPr>
                          <m:ctrlPr>
                            <a:rPr lang="es-CO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CO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s-CO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s-CO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r>
                        <a:rPr lang="es-CO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s-CO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3" name="Rectá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7433" y="3758088"/>
                <a:ext cx="2685351" cy="41017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4757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>
                <a:solidFill>
                  <a:schemeClr val="accent2">
                    <a:lumMod val="75000"/>
                  </a:schemeClr>
                </a:solidFill>
              </a:rPr>
              <a:t>Propagación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Marcador de contenido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963" y="2148359"/>
            <a:ext cx="4924425" cy="16478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ángulo 7"/>
              <p:cNvSpPr/>
              <p:nvPr/>
            </p:nvSpPr>
            <p:spPr>
              <a:xfrm>
                <a:off x="2574630" y="3968826"/>
                <a:ext cx="2770502" cy="38792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d>
                            <m:dPr>
                              <m:ctrlPr>
                                <a:rPr lang="es-CO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r>
                        <a:rPr lang="es-CO" i="0">
                          <a:latin typeface="Cambria Math" panose="02040503050406030204" pitchFamily="18" charset="0"/>
                        </a:rPr>
                        <m:t> = </m:t>
                      </m:r>
                      <m:sSup>
                        <m:sSupPr>
                          <m:ctrlPr>
                            <a:rPr lang="es-CO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s-CO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CO" i="0">
                          <a:latin typeface="Cambria Math" panose="02040503050406030204" pitchFamily="18" charset="0"/>
                        </a:rPr>
                        <m:t>+(</m:t>
                      </m:r>
                      <m:sSup>
                        <m:sSupPr>
                          <m:ctrlPr>
                            <a:rPr lang="es-CO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d>
                            <m:dPr>
                              <m:ctrlPr>
                                <a:rPr lang="es-CO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es-CO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s-CO" i="0"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s-CO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d>
                            <m:dPr>
                              <m:ctrlPr>
                                <a:rPr lang="es-CO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8" name="Rectángulo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4630" y="3968826"/>
                <a:ext cx="2770502" cy="387927"/>
              </a:xfrm>
              <a:prstGeom prst="rect">
                <a:avLst/>
              </a:prstGeom>
              <a:blipFill rotWithShape="0">
                <a:blip r:embed="rId3"/>
                <a:stretch>
                  <a:fillRect b="-1406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8209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>
                <a:solidFill>
                  <a:schemeClr val="accent2">
                    <a:lumMod val="75000"/>
                  </a:schemeClr>
                </a:solidFill>
              </a:rPr>
              <a:t>Propagación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Marcador de contenido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s-CO" i="1" dirty="0" smtClean="0"/>
              </a:p>
              <a:p>
                <a:pPr marL="0" indent="0">
                  <a:buNone/>
                </a:pPr>
                <a:endParaRPr lang="es-CO" i="1" dirty="0"/>
              </a:p>
              <a:p>
                <a:pPr marL="0" indent="0">
                  <a:buNone/>
                </a:pPr>
                <a:endParaRPr lang="es-CO" i="1" dirty="0" smtClean="0"/>
              </a:p>
              <a:p>
                <a:pPr marL="0" indent="0">
                  <a:buNone/>
                </a:pPr>
                <a:endParaRPr lang="es-CO" i="1" dirty="0"/>
              </a:p>
              <a:p>
                <a:pPr marL="0" indent="0">
                  <a:buNone/>
                </a:pPr>
                <a:endParaRPr lang="es-CO" i="1" dirty="0" smtClean="0"/>
              </a:p>
              <a:p>
                <a:pPr marL="0" indent="0">
                  <a:buNone/>
                </a:pPr>
                <a:endParaRPr lang="es-CO" i="1" dirty="0"/>
              </a:p>
              <a:p>
                <a:pPr marL="0" indent="0">
                  <a:buNone/>
                </a:pPr>
                <a:endParaRPr lang="es-CO" i="1" dirty="0" smtClean="0"/>
              </a:p>
              <a:p>
                <a:pPr marL="0" indent="0">
                  <a:buNone/>
                </a:pPr>
                <a:endParaRPr lang="es-CO" i="1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sz="18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lang="es-CO" sz="1800" i="1"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p>
                      <m:r>
                        <a:rPr lang="es-CO" sz="1800" i="1">
                          <a:latin typeface="Cambria Math" panose="02040503050406030204" pitchFamily="18" charset="0"/>
                        </a:rPr>
                        <m:t> = </m:t>
                      </m:r>
                      <m:sSup>
                        <m:sSupPr>
                          <m:ctrlPr>
                            <a:rPr lang="es-CO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sz="18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s-CO" sz="18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CO" sz="1800" i="1">
                          <a:latin typeface="Cambria Math" panose="02040503050406030204" pitchFamily="18" charset="0"/>
                        </a:rPr>
                        <m:t>+(</m:t>
                      </m:r>
                      <m:sSup>
                        <m:sSupPr>
                          <m:ctrlPr>
                            <a:rPr lang="es-CO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sz="18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d>
                            <m:dPr>
                              <m:ctrlPr>
                                <a:rPr lang="es-CO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sz="18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es-CO" sz="1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s-CO" sz="1800" i="1"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s-CO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sz="1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s-CO" sz="1800" i="1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</m:oMath>
                  </m:oMathPara>
                </a14:m>
                <a:endParaRPr lang="es-CO" sz="1800" dirty="0"/>
              </a:p>
            </p:txBody>
          </p:sp>
        </mc:Choice>
        <mc:Fallback xmlns="">
          <p:sp>
            <p:nvSpPr>
              <p:cNvPr id="6" name="Marcador de contenido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550" y="2114509"/>
            <a:ext cx="4914900" cy="16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846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>
                <a:solidFill>
                  <a:schemeClr val="accent2">
                    <a:lumMod val="75000"/>
                  </a:schemeClr>
                </a:solidFill>
              </a:rPr>
              <a:t>Propagación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Marcador de contenido 5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1"/>
                <a:r>
                  <a:rPr lang="es-CO" sz="2000" dirty="0" smtClean="0"/>
                  <a:t>Generalizando, para cualquier capa oculta </a:t>
                </a:r>
                <a14:m>
                  <m:oMath xmlns:m="http://schemas.openxmlformats.org/officeDocument/2006/math">
                    <m:r>
                      <a:rPr lang="es-CO" sz="20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s-CO" sz="2000" i="1" dirty="0" smtClean="0"/>
              </a:p>
              <a:p>
                <a:pPr marL="342900" lvl="1" indent="0">
                  <a:buNone/>
                </a:pPr>
                <a:endParaRPr lang="es-CO" i="1" dirty="0" smtClean="0"/>
              </a:p>
              <a:p>
                <a:pPr marL="342900" lvl="1" indent="0">
                  <a:buNone/>
                </a:pPr>
                <a:endParaRPr lang="es-CO" sz="2400" i="1" dirty="0"/>
              </a:p>
              <a:p>
                <a:pPr marL="3429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sz="24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lang="es-CO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O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CO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s-CO" sz="2400" i="1">
                          <a:latin typeface="Cambria Math" panose="02040503050406030204" pitchFamily="18" charset="0"/>
                        </a:rPr>
                        <m:t> = </m:t>
                      </m:r>
                      <m:sSup>
                        <m:sSupPr>
                          <m:ctrlPr>
                            <a:rPr lang="es-CO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s-CO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O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CO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s-CO" sz="2400" i="1">
                          <a:latin typeface="Cambria Math" panose="02040503050406030204" pitchFamily="18" charset="0"/>
                        </a:rPr>
                        <m:t>+(</m:t>
                      </m:r>
                      <m:sSup>
                        <m:sSupPr>
                          <m:ctrlPr>
                            <a:rPr lang="es-CO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d>
                            <m:dPr>
                              <m:ctrlPr>
                                <a:rPr lang="es-CO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s-CO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s-CO" sz="2400" i="1"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s-CO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s-CO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O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CO" sz="2400" i="1"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</m:sSup>
                      <m:r>
                        <m:rPr>
                          <m:nor/>
                        </m:rPr>
                        <a:rPr lang="es-CO" sz="2400"/>
                        <m:t>   </m:t>
                      </m:r>
                      <m:sSup>
                        <m:sSupPr>
                          <m:ctrlPr>
                            <a:rPr lang="es-CO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s-CO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O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CO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s-CO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sz="2400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s-CO" sz="2400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s-CO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sz="24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 lang="es-CO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O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CO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s-CO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sz="2400" i="1" dirty="0" smtClean="0"/>
              </a:p>
              <a:p>
                <a:pPr marL="0" indent="0">
                  <a:buNone/>
                </a:pPr>
                <a:endParaRPr lang="es-CO" i="1" dirty="0"/>
              </a:p>
              <a:p>
                <a:pPr marL="0" indent="0">
                  <a:buNone/>
                </a:pPr>
                <a:endParaRPr lang="es-CO" i="1" dirty="0" smtClean="0"/>
              </a:p>
              <a:p>
                <a:pPr marL="0" indent="0">
                  <a:buNone/>
                </a:pPr>
                <a:endParaRPr lang="es-CO" i="1" dirty="0"/>
              </a:p>
              <a:p>
                <a:pPr marL="0" indent="0">
                  <a:buNone/>
                </a:pPr>
                <a:endParaRPr lang="es-CO" i="1" dirty="0" smtClean="0"/>
              </a:p>
              <a:p>
                <a:pPr marL="0" indent="0">
                  <a:buNone/>
                </a:pPr>
                <a:endParaRPr lang="es-CO" i="1" dirty="0" smtClean="0"/>
              </a:p>
            </p:txBody>
          </p:sp>
        </mc:Choice>
        <mc:Fallback xmlns="">
          <p:sp>
            <p:nvSpPr>
              <p:cNvPr id="6" name="Marcador de contenido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146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318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>
                <a:solidFill>
                  <a:schemeClr val="accent2">
                    <a:lumMod val="75000"/>
                  </a:schemeClr>
                </a:solidFill>
              </a:rPr>
              <a:t>Aprendizaje Supervisado</a:t>
            </a:r>
            <a:endParaRPr lang="es-CO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400" dirty="0" smtClean="0"/>
              <a:t>Entradas X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400" dirty="0" smtClean="0"/>
              <a:t>Rótulos 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400" dirty="0" smtClean="0"/>
              <a:t>Cálculo de </a:t>
            </a:r>
            <a:r>
              <a:rPr lang="es-CO" sz="2400" dirty="0" smtClean="0"/>
              <a:t>error, función </a:t>
            </a:r>
            <a:r>
              <a:rPr lang="es-CO" sz="2400" smtClean="0"/>
              <a:t>de pérdida</a:t>
            </a:r>
            <a:endParaRPr lang="es-CO" sz="2400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400" dirty="0" smtClean="0"/>
              <a:t>Ajuste de pesos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2200605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>
                <a:solidFill>
                  <a:schemeClr val="accent2">
                    <a:lumMod val="75000"/>
                  </a:schemeClr>
                </a:solidFill>
              </a:rPr>
              <a:t>Aprendizaje supervisado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endParaRPr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s-CO" sz="2400" dirty="0"/>
                  <a:t>Para entrenar la red </a:t>
                </a:r>
                <a:r>
                  <a:rPr lang="es-CO" sz="2400" dirty="0" smtClean="0"/>
                  <a:t>hacemos </a:t>
                </a:r>
                <a:r>
                  <a:rPr lang="es-CO" sz="2400" b="1" i="1" dirty="0"/>
                  <a:t>aprendizaje supervisado</a:t>
                </a:r>
                <a:r>
                  <a:rPr lang="es-CO" sz="2400" dirty="0"/>
                  <a:t>, proveyendo, </a:t>
                </a:r>
                <a:r>
                  <a:rPr lang="es-CO" sz="2400" dirty="0" smtClean="0"/>
                  <a:t>un </a:t>
                </a:r>
                <a:r>
                  <a:rPr lang="es-CO" sz="2400" dirty="0"/>
                  <a:t>conjunto de entrenamiento: </a:t>
                </a:r>
                <a14:m>
                  <m:oMath xmlns:m="http://schemas.openxmlformats.org/officeDocument/2006/math">
                    <m:r>
                      <a:rPr lang="es-CO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s-C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(1)</m:t>
                        </m:r>
                      </m:sub>
                    </m:sSub>
                    <m:r>
                      <a:rPr lang="es-CO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C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(1)</m:t>
                        </m:r>
                      </m:sub>
                    </m:sSub>
                    <m:r>
                      <a:rPr lang="es-CO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sz="2400" dirty="0"/>
                  <a:t>, </a:t>
                </a:r>
                <a14:m>
                  <m:oMath xmlns:m="http://schemas.openxmlformats.org/officeDocument/2006/math">
                    <m:r>
                      <a:rPr lang="es-CO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s-C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(2)</m:t>
                        </m:r>
                      </m:sub>
                    </m:sSub>
                    <m:r>
                      <a:rPr lang="es-CO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C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(2)</m:t>
                        </m:r>
                      </m:sub>
                    </m:sSub>
                    <m:r>
                      <a:rPr lang="es-CO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sz="2400" dirty="0"/>
                  <a:t>, … , </a:t>
                </a:r>
                <a14:m>
                  <m:oMath xmlns:m="http://schemas.openxmlformats.org/officeDocument/2006/math">
                    <m:r>
                      <a:rPr lang="es-CO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s-C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s-CO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C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s-CO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sz="2400" dirty="0"/>
                  <a:t>.</a:t>
                </a:r>
                <a:endParaRPr lang="es-CO" sz="2400" dirty="0" smtClean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s-CO" sz="2400" dirty="0"/>
                  <a:t>L</a:t>
                </a:r>
                <a:r>
                  <a:rPr lang="es-CO" sz="2400" dirty="0" smtClean="0"/>
                  <a:t>os </a:t>
                </a:r>
                <a:r>
                  <a:rPr lang="es-CO" sz="2400" dirty="0"/>
                  <a:t>vectores </a:t>
                </a:r>
                <a14:m>
                  <m:oMath xmlns:m="http://schemas.openxmlformats.org/officeDocument/2006/math">
                    <m:r>
                      <a:rPr lang="es-CO" sz="24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CO" sz="2400" dirty="0"/>
                  <a:t> son las características (</a:t>
                </a:r>
                <a:r>
                  <a:rPr lang="es-CO" sz="2400" dirty="0" err="1"/>
                  <a:t>features</a:t>
                </a:r>
                <a:r>
                  <a:rPr lang="es-CO" sz="2400" dirty="0" smtClean="0"/>
                  <a:t>) de </a:t>
                </a:r>
                <a:r>
                  <a:rPr lang="es-CO" sz="2400" dirty="0"/>
                  <a:t>entrada y los vectores </a:t>
                </a:r>
                <a14:m>
                  <m:oMath xmlns:m="http://schemas.openxmlformats.org/officeDocument/2006/math">
                    <m:r>
                      <a:rPr lang="es-CO" sz="24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s-CO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CO" sz="2400" dirty="0"/>
                  <a:t>son los patrones que debe reconocer </a:t>
                </a:r>
                <a:r>
                  <a:rPr lang="es-CO" sz="2400" dirty="0" smtClean="0"/>
                  <a:t>la </a:t>
                </a:r>
                <a:r>
                  <a:rPr lang="es-CO" sz="2400" dirty="0"/>
                  <a:t>red</a:t>
                </a:r>
                <a:r>
                  <a:rPr lang="es-CO" sz="2400" dirty="0" smtClean="0"/>
                  <a:t>.</a:t>
                </a:r>
                <a:endParaRPr lang="es-CO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r="-1607" b="-3354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04187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Underfitting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lang="es-CO" sz="2000" dirty="0" smtClean="0"/>
              <a:t>Modelo demasiado</a:t>
            </a:r>
          </a:p>
          <a:p>
            <a:pPr marL="342900" lvl="1" indent="0">
              <a:buNone/>
            </a:pPr>
            <a:r>
              <a:rPr lang="es-CO" sz="2000" dirty="0"/>
              <a:t> </a:t>
            </a:r>
            <a:r>
              <a:rPr lang="es-CO" sz="2000" dirty="0" smtClean="0"/>
              <a:t>  simple</a:t>
            </a:r>
            <a:endParaRPr lang="es-CO" sz="2000" dirty="0"/>
          </a:p>
        </p:txBody>
      </p:sp>
      <p:pic>
        <p:nvPicPr>
          <p:cNvPr id="4" name="Picture 3" descr="under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585" y="1028700"/>
            <a:ext cx="3657600" cy="274320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885" y="2645667"/>
            <a:ext cx="1790700" cy="177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331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 smtClean="0">
                <a:solidFill>
                  <a:schemeClr val="accent2">
                    <a:lumMod val="75000"/>
                  </a:schemeClr>
                </a:solidFill>
              </a:rPr>
              <a:t>Overfitting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lang="es-CO" sz="2000" dirty="0" smtClean="0"/>
              <a:t>Modelo demasiado</a:t>
            </a:r>
          </a:p>
          <a:p>
            <a:pPr marL="342900" lvl="1" indent="0">
              <a:buNone/>
            </a:pPr>
            <a:r>
              <a:rPr lang="es-CO" sz="2000" dirty="0"/>
              <a:t> </a:t>
            </a:r>
            <a:r>
              <a:rPr lang="es-CO" sz="2000" dirty="0" smtClean="0"/>
              <a:t>  complejo</a:t>
            </a:r>
            <a:endParaRPr lang="es-CO" sz="2000" dirty="0"/>
          </a:p>
        </p:txBody>
      </p:sp>
      <p:pic>
        <p:nvPicPr>
          <p:cNvPr id="4" name="Picture 3" descr="over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112" y="1128226"/>
            <a:ext cx="3657600" cy="274320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295" y="2733045"/>
            <a:ext cx="1895475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3644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>
                <a:solidFill>
                  <a:schemeClr val="accent2">
                    <a:lumMod val="75000"/>
                  </a:schemeClr>
                </a:solidFill>
              </a:rPr>
              <a:t>Aprendizaje generalizado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lang="es-CO" sz="2000" dirty="0" smtClean="0"/>
              <a:t>Generaliza el concepto</a:t>
            </a:r>
          </a:p>
          <a:p>
            <a:pPr marL="342900" lvl="1" indent="0">
              <a:buNone/>
            </a:pPr>
            <a:r>
              <a:rPr lang="es-CO" sz="2000" dirty="0"/>
              <a:t> </a:t>
            </a:r>
            <a:r>
              <a:rPr lang="es-CO" sz="2000" dirty="0" smtClean="0"/>
              <a:t>  para cualquier predicción</a:t>
            </a:r>
            <a:endParaRPr lang="es-CO" sz="2000" dirty="0"/>
          </a:p>
        </p:txBody>
      </p:sp>
      <p:pic>
        <p:nvPicPr>
          <p:cNvPr id="4" name="Picture 3" descr="over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9941" y="1096084"/>
            <a:ext cx="3657600" cy="274320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429" y="2896190"/>
            <a:ext cx="1924050" cy="17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638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2">
                    <a:lumMod val="75000"/>
                  </a:schemeClr>
                </a:solidFill>
              </a:rPr>
              <a:t>Dataset MNIST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400" dirty="0" smtClean="0"/>
              <a:t>28 x 28 pixeles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400" dirty="0" smtClean="0"/>
              <a:t>784 características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400" dirty="0" smtClean="0"/>
              <a:t>10 clases (0–9)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400" dirty="0"/>
              <a:t>10.000 ejemplos</a:t>
            </a:r>
          </a:p>
        </p:txBody>
      </p:sp>
    </p:spTree>
    <p:extLst>
      <p:ext uri="{BB962C8B-B14F-4D97-AF65-F5344CB8AC3E}">
        <p14:creationId xmlns:p14="http://schemas.microsoft.com/office/powerpoint/2010/main" val="1341503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2">
                    <a:lumMod val="75000"/>
                  </a:schemeClr>
                </a:solidFill>
              </a:rPr>
              <a:t>Dataset MNIST</a:t>
            </a:r>
          </a:p>
        </p:txBody>
      </p:sp>
      <p:pic>
        <p:nvPicPr>
          <p:cNvPr id="4" name="Marcador de contenido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9538" y="1620838"/>
            <a:ext cx="4143761" cy="2909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486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2">
                    <a:lumMod val="75000"/>
                  </a:schemeClr>
                </a:solidFill>
              </a:rPr>
              <a:t>Dataset MNIST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/>
          </a:p>
        </p:txBody>
      </p:sp>
      <p:pic>
        <p:nvPicPr>
          <p:cNvPr id="5" name="Imagen 4" descr="Texto&#10;&#10;Descripción generada automáticamente con confianza media"/>
          <p:cNvPicPr/>
          <p:nvPr/>
        </p:nvPicPr>
        <p:blipFill>
          <a:blip r:embed="rId2"/>
          <a:stretch>
            <a:fillRect/>
          </a:stretch>
        </p:blipFill>
        <p:spPr>
          <a:xfrm>
            <a:off x="2009774" y="1896813"/>
            <a:ext cx="2758709" cy="2634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446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>
                <a:solidFill>
                  <a:schemeClr val="accent2">
                    <a:lumMod val="75000"/>
                  </a:schemeClr>
                </a:solidFill>
              </a:rPr>
              <a:t>Aprendizaje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Ø"/>
                </a:pPr>
                <a:r>
                  <a:rPr lang="es-CO" sz="2000" dirty="0" smtClean="0"/>
                  <a:t>La topología de la red depende del número de características (</a:t>
                </a:r>
                <a:r>
                  <a:rPr lang="es-CO" sz="2000" dirty="0" err="1"/>
                  <a:t>features</a:t>
                </a:r>
                <a:r>
                  <a:rPr lang="es-CO" sz="2000" dirty="0"/>
                  <a:t>) del vector de </a:t>
                </a:r>
                <a:r>
                  <a:rPr lang="es-CO" sz="2000" dirty="0" smtClean="0"/>
                  <a:t>entrada.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s-CO" sz="2000" dirty="0"/>
                  <a:t>D</a:t>
                </a:r>
                <a:r>
                  <a:rPr lang="es-CO" sz="2000" dirty="0" smtClean="0"/>
                  <a:t>el </a:t>
                </a:r>
                <a:r>
                  <a:rPr lang="es-CO" sz="2000" dirty="0"/>
                  <a:t>número de salidas en la capa de salida, que corresponde a las clasificaciones que hace la red o del resultado que se </a:t>
                </a:r>
                <a:r>
                  <a:rPr lang="es-CO" sz="2000" dirty="0" smtClean="0"/>
                  <a:t>espera.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s-CO" sz="2000" dirty="0" smtClean="0"/>
                  <a:t>Y del </a:t>
                </a:r>
                <a:r>
                  <a:rPr lang="es-CO" sz="2000" dirty="0"/>
                  <a:t>número de capas </a:t>
                </a:r>
                <a:r>
                  <a:rPr lang="es-CO" sz="2000" dirty="0" smtClean="0"/>
                  <a:t>ocultas.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s-CO" sz="2000" dirty="0"/>
                  <a:t>T</a:t>
                </a:r>
                <a:r>
                  <a:rPr lang="es-CO" sz="2000" dirty="0" smtClean="0"/>
                  <a:t>odas </a:t>
                </a:r>
                <a:r>
                  <a:rPr lang="es-CO" sz="2000" dirty="0"/>
                  <a:t>las neuronas de la capa </a:t>
                </a:r>
                <a14:m>
                  <m:oMath xmlns:m="http://schemas.openxmlformats.org/officeDocument/2006/math">
                    <m:r>
                      <a:rPr lang="es-CO" sz="20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s-CO" sz="2000" dirty="0"/>
                  <a:t> se conectan con todas las neuronas de la capa </a:t>
                </a:r>
                <a14:m>
                  <m:oMath xmlns:m="http://schemas.openxmlformats.org/officeDocument/2006/math">
                    <m:r>
                      <a:rPr lang="es-CO" sz="20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s-CO" sz="2000" i="1">
                        <a:latin typeface="Cambria Math" panose="02040503050406030204" pitchFamily="18" charset="0"/>
                      </a:rPr>
                      <m:t> +1.</m:t>
                    </m:r>
                  </m:oMath>
                </a14:m>
                <a:endParaRPr lang="es-CO" sz="2000" b="0" dirty="0" smtClean="0"/>
              </a:p>
              <a:p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378" t="-1468" b="-104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4999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>
                <a:solidFill>
                  <a:schemeClr val="accent2">
                    <a:lumMod val="75000"/>
                  </a:schemeClr>
                </a:solidFill>
              </a:rPr>
              <a:t>Aprendizaje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buFont typeface="Wingdings" panose="05000000000000000000" pitchFamily="2" charset="2"/>
                  <a:buChar char="Ø"/>
                </a:pPr>
                <a:r>
                  <a:rPr lang="es-CO" sz="2000" dirty="0"/>
                  <a:t>S</a:t>
                </a:r>
                <a:r>
                  <a:rPr lang="es-CO" sz="2000" dirty="0" smtClean="0"/>
                  <a:t>e asignan valores aleatorios entre [0, 1] a los pesos de la red.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s-CO" sz="2000" dirty="0"/>
                  <a:t>S</a:t>
                </a:r>
                <a:r>
                  <a:rPr lang="es-CO" sz="2000" dirty="0" smtClean="0"/>
                  <a:t>e </a:t>
                </a:r>
                <a:r>
                  <a:rPr lang="es-CO" sz="2000" dirty="0"/>
                  <a:t>hace la propagación </a:t>
                </a:r>
                <a:r>
                  <a:rPr lang="es-CO" sz="2000" dirty="0" smtClean="0"/>
                  <a:t>de </a:t>
                </a:r>
                <a:r>
                  <a:rPr lang="es-CO" sz="2000" dirty="0"/>
                  <a:t>los vectores </a:t>
                </a:r>
                <a14:m>
                  <m:oMath xmlns:m="http://schemas.openxmlformats.org/officeDocument/2006/math">
                    <m:r>
                      <a:rPr lang="es-CO" sz="20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CO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CO" sz="2000" dirty="0" smtClean="0"/>
                  <a:t>y se </a:t>
                </a:r>
                <a:r>
                  <a:rPr lang="es-CO" sz="2000" dirty="0"/>
                  <a:t>obtiene el vector de salida</a:t>
                </a:r>
                <a14:m>
                  <m:oMath xmlns:m="http://schemas.openxmlformats.org/officeDocument/2006/math">
                    <m:r>
                      <a:rPr lang="es-CO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O" sz="20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CO" sz="2000" dirty="0"/>
                  <a:t>. La diferencia con el </a:t>
                </a:r>
                <a:r>
                  <a:rPr lang="es-CO" sz="2000" dirty="0" smtClean="0"/>
                  <a:t>rótulo </a:t>
                </a:r>
                <a:r>
                  <a:rPr lang="es-CO" sz="2000" dirty="0"/>
                  <a:t>de entrenamiento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sz="20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s-CO" sz="20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s-CO" sz="2000" dirty="0"/>
                  <a:t>, es  </a:t>
                </a:r>
                <a:endParaRPr lang="es-CO" sz="2000" dirty="0" smtClean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s-CO" sz="2000" dirty="0"/>
                  <a:t> </a:t>
                </a:r>
                <a:r>
                  <a:rPr lang="es-CO" sz="2000" dirty="0" smtClean="0"/>
                  <a:t>    </a:t>
                </a:r>
                <a14:m>
                  <m:oMath xmlns:m="http://schemas.openxmlformats.org/officeDocument/2006/math">
                    <m:r>
                      <a:rPr lang="es-CO" sz="20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s-CO" sz="2000" i="1">
                        <a:latin typeface="Cambria Math" panose="02040503050406030204" pitchFamily="18" charset="0"/>
                      </a:rPr>
                      <m:t>= |</m:t>
                    </m:r>
                    <m:sSub>
                      <m:sSubPr>
                        <m:ctrlPr>
                          <a:rPr lang="es-CO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sz="20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s-CO" sz="20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s-CO" sz="2000" i="1">
                        <a:latin typeface="Cambria Math" panose="02040503050406030204" pitchFamily="18" charset="0"/>
                      </a:rPr>
                      <m:t>− </m:t>
                    </m:r>
                    <m:r>
                      <a:rPr lang="es-CO" sz="20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s-CO" sz="2000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s-CO" sz="2000" dirty="0"/>
                  <a:t>, es el error de clasificación de la red  </a:t>
                </a:r>
                <a14:m>
                  <m:oMath xmlns:m="http://schemas.openxmlformats.org/officeDocument/2006/math">
                    <m:r>
                      <a:rPr lang="es-CO" sz="20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s-CO" sz="2000" i="1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["/>
                        <m:endChr m:val="]"/>
                        <m:ctrlPr>
                          <a:rPr lang="es-CO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s-CO" sz="20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20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20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s-CO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20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s-CO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  <m:e>
                            <m:sSub>
                              <m:sSubPr>
                                <m:ctrlPr>
                                  <a:rPr lang="es-CO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O" sz="20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s-CO" sz="20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endParaRPr lang="es-CO" sz="2000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s-CO" sz="2000" dirty="0"/>
                  <a:t>El proceso de entrenamiento </a:t>
                </a:r>
                <a:r>
                  <a:rPr lang="es-CO" sz="2000" dirty="0" smtClean="0"/>
                  <a:t>consiste </a:t>
                </a:r>
                <a:r>
                  <a:rPr lang="es-CO" sz="2000" dirty="0"/>
                  <a:t>en hacer que ese error sea menor que un </a:t>
                </a:r>
                <a14:m>
                  <m:oMath xmlns:m="http://schemas.openxmlformats.org/officeDocument/2006/math">
                    <m:r>
                      <a:rPr lang="es-CO" sz="2000" i="1">
                        <a:latin typeface="Cambria Math" panose="02040503050406030204" pitchFamily="18" charset="0"/>
                      </a:rPr>
                      <m:t>Ɛ</m:t>
                    </m:r>
                  </m:oMath>
                </a14:m>
                <a:r>
                  <a:rPr lang="es-CO" sz="2000" dirty="0" smtClean="0"/>
                  <a:t>. </a:t>
                </a:r>
                <a:r>
                  <a:rPr lang="es-CO" sz="2000" dirty="0"/>
                  <a:t>También se define la función de pérdida como el error promedio </a:t>
                </a:r>
                <a14:m>
                  <m:oMath xmlns:m="http://schemas.openxmlformats.org/officeDocument/2006/math">
                    <m:r>
                      <a:rPr lang="es-CO" sz="2000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s-CO" sz="2000" dirty="0"/>
                  <a:t> como: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s-CO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CO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CO" sz="2000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s-CO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O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s-CO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s-CO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CO" sz="2000" i="1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s-CO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CO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CO" sz="2000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s-CO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O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s-CO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s-CO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s-CO" sz="2000" i="1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516" r="-37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9112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2">
                    <a:lumMod val="75000"/>
                  </a:schemeClr>
                </a:solidFill>
              </a:rPr>
              <a:t>Backpropagation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lang="es-CO" sz="1800" dirty="0"/>
              <a:t>S</a:t>
            </a:r>
            <a:r>
              <a:rPr lang="es-CO" sz="1800" dirty="0" smtClean="0"/>
              <a:t>olo </a:t>
            </a:r>
            <a:r>
              <a:rPr lang="es-CO" sz="1800" dirty="0"/>
              <a:t>se conoce el error en la última </a:t>
            </a:r>
            <a:r>
              <a:rPr lang="es-CO" sz="1800" dirty="0" smtClean="0"/>
              <a:t>capa</a:t>
            </a:r>
          </a:p>
          <a:p>
            <a:r>
              <a:rPr lang="es-CO" sz="1800" dirty="0" smtClean="0"/>
              <a:t>Se minimiza </a:t>
            </a:r>
            <a:r>
              <a:rPr lang="es-CO" sz="1800" dirty="0"/>
              <a:t>el error en esa capa</a:t>
            </a:r>
            <a:r>
              <a:rPr lang="es-CO" sz="1800" dirty="0" smtClean="0"/>
              <a:t>, se ajustan </a:t>
            </a:r>
            <a:r>
              <a:rPr lang="es-CO" sz="1800" dirty="0"/>
              <a:t>el vector de sesgo y la matriz de peso de esa capa. </a:t>
            </a:r>
            <a:endParaRPr lang="es-CO" sz="1800" dirty="0" smtClean="0"/>
          </a:p>
          <a:p>
            <a:r>
              <a:rPr lang="es-CO" sz="1800" dirty="0"/>
              <a:t>S</a:t>
            </a:r>
            <a:r>
              <a:rPr lang="es-CO" sz="1800" dirty="0" smtClean="0"/>
              <a:t>e </a:t>
            </a:r>
            <a:r>
              <a:rPr lang="es-CO" sz="1800" dirty="0"/>
              <a:t>sigue hacia las capas internas, </a:t>
            </a:r>
            <a:r>
              <a:rPr lang="es-CO" sz="1800" dirty="0" smtClean="0"/>
              <a:t>se ajustan </a:t>
            </a:r>
            <a:r>
              <a:rPr lang="es-CO" sz="1800" dirty="0"/>
              <a:t>el vector de sesgo y la matriz de peso de </a:t>
            </a:r>
            <a:r>
              <a:rPr lang="es-CO" sz="1800" dirty="0" smtClean="0"/>
              <a:t>cada capa, hasta la </a:t>
            </a:r>
            <a:r>
              <a:rPr lang="es-CO" sz="1800" dirty="0"/>
              <a:t>capa de entrada. </a:t>
            </a:r>
            <a:endParaRPr lang="es-CO" sz="1800" dirty="0" smtClean="0"/>
          </a:p>
          <a:p>
            <a:r>
              <a:rPr lang="es-CO" sz="1800" dirty="0" smtClean="0"/>
              <a:t>Esto </a:t>
            </a:r>
            <a:r>
              <a:rPr lang="es-CO" sz="1800" dirty="0"/>
              <a:t>es lo que se conoce como algoritmo de </a:t>
            </a:r>
            <a:r>
              <a:rPr lang="es-CO" sz="1800" dirty="0" err="1"/>
              <a:t>retropropagación</a:t>
            </a:r>
            <a:r>
              <a:rPr lang="es-CO" sz="1800" dirty="0"/>
              <a:t> o </a:t>
            </a:r>
            <a:r>
              <a:rPr lang="es-CO" sz="1800" dirty="0" err="1"/>
              <a:t>Backpropagation</a:t>
            </a:r>
            <a:r>
              <a:rPr lang="es-CO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957433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>
                <a:solidFill>
                  <a:schemeClr val="accent2">
                    <a:lumMod val="75000"/>
                  </a:schemeClr>
                </a:solidFill>
              </a:rPr>
              <a:t>Descenso del Gradiente</a:t>
            </a:r>
            <a:endParaRPr lang="es-CO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lang="es-CO" sz="1800" dirty="0" smtClean="0"/>
              <a:t>Uso de tasa de aprendizaje (η)</a:t>
            </a:r>
          </a:p>
          <a:p>
            <a:pPr lvl="1"/>
            <a:r>
              <a:rPr lang="es-CO" sz="1800" dirty="0" smtClean="0"/>
              <a:t>Actualización iterativa</a:t>
            </a:r>
          </a:p>
          <a:p>
            <a:pPr lvl="1"/>
            <a:r>
              <a:rPr lang="es-CO" sz="1800" dirty="0" smtClean="0"/>
              <a:t>Optimización del modelo</a:t>
            </a:r>
            <a:endParaRPr lang="es-CO" sz="18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3293" y="3209602"/>
            <a:ext cx="3295650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6839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>
                <a:solidFill>
                  <a:schemeClr val="accent2">
                    <a:lumMod val="75000"/>
                  </a:schemeClr>
                </a:solidFill>
              </a:rPr>
              <a:t>Función de pérdida</a:t>
            </a:r>
            <a:endParaRPr lang="es-CO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000" dirty="0" smtClean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Los </a:t>
            </a:r>
            <a:r>
              <a:rPr lang="es-CO" sz="20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datos en el aprendizaje supervisado, incluye la respuesta correcta </a:t>
            </a:r>
            <a:r>
              <a:rPr lang="es-CO" sz="2000" i="1" dirty="0" err="1" smtClean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Yr</a:t>
            </a:r>
            <a:r>
              <a:rPr lang="es-CO" sz="2000" dirty="0" smtClean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, rótulo, </a:t>
            </a:r>
            <a:r>
              <a:rPr lang="es-CO" sz="2000" dirty="0" smtClean="0"/>
              <a:t>Optimización del modelo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000" dirty="0" smtClean="0"/>
              <a:t>Notación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s-CO" sz="1400" dirty="0" smtClean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m </a:t>
            </a:r>
            <a:r>
              <a:rPr lang="es-CO" sz="14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= número de ejemplos de </a:t>
            </a:r>
            <a:r>
              <a:rPr lang="es-CO" sz="1400" dirty="0" smtClean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entrenamiento.</a:t>
            </a:r>
            <a:endParaRPr lang="es-CO" sz="1400" dirty="0" smtClean="0">
              <a:solidFill>
                <a:schemeClr val="tx1"/>
              </a:solidFill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es-CO" sz="1400" dirty="0" smtClean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X </a:t>
            </a:r>
            <a:r>
              <a:rPr lang="es-CO" sz="14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= variable de entrada, es un vector con todas las características (</a:t>
            </a:r>
            <a:r>
              <a:rPr lang="es-CO" sz="1400" dirty="0" err="1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features</a:t>
            </a:r>
            <a:r>
              <a:rPr lang="es-CO" sz="14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) del </a:t>
            </a:r>
            <a:r>
              <a:rPr lang="es-CO" sz="1400" dirty="0" smtClean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ejemplo.</a:t>
            </a:r>
            <a:endParaRPr lang="es-CO" sz="1400" dirty="0" smtClean="0">
              <a:solidFill>
                <a:schemeClr val="tx1"/>
              </a:solidFill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es-CO" sz="1400" dirty="0" smtClean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n </a:t>
            </a:r>
            <a:r>
              <a:rPr lang="es-CO" sz="14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= número de características (</a:t>
            </a:r>
            <a:r>
              <a:rPr lang="es-CO" sz="1400" dirty="0" err="1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features</a:t>
            </a:r>
            <a:r>
              <a:rPr lang="es-CO" sz="1400" dirty="0">
                <a:solidFill>
                  <a:srgbClr val="000000"/>
                </a:solidFill>
                <a:ea typeface="Times New Roman" panose="02020603050405020304" pitchFamily="18" charset="0"/>
                <a:cs typeface="Calibri" panose="020F0502020204030204" pitchFamily="34" charset="0"/>
              </a:rPr>
              <a:t>) de la variable de entrada.</a:t>
            </a:r>
            <a:endParaRPr lang="es-CO" sz="1400" dirty="0">
              <a:solidFill>
                <a:schemeClr val="tx1"/>
              </a:solidFill>
            </a:endParaRPr>
          </a:p>
          <a:p>
            <a:pPr lvl="1"/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15161531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>
                <a:solidFill>
                  <a:schemeClr val="accent2">
                    <a:lumMod val="75000"/>
                  </a:schemeClr>
                </a:solidFill>
              </a:rPr>
              <a:t>Función de pérdida</a:t>
            </a:r>
            <a:endParaRPr lang="es-CO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7595" y="1447800"/>
            <a:ext cx="2921995" cy="23741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2431723" y="3821411"/>
                <a:ext cx="3417922" cy="8485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s-CO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d>
                      <m:r>
                        <a:rPr lang="es-CO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CO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CO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s-CO" i="0">
                          <a:latin typeface="Cambria Math" panose="02040503050406030204" pitchFamily="18" charset="0"/>
                        </a:rPr>
                        <m:t>(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s-CO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CO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CO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CO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eqArr>
                            <m:eqArrPr>
                              <m:ctrlPr>
                                <a:rPr lang="es-CO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s-CO" i="0">
                                  <a:latin typeface="Cambria Math" panose="02040503050406030204" pitchFamily="18" charset="0"/>
                                </a:rPr>
                                <m:t>&amp; </m:t>
                              </m:r>
                            </m:e>
                            <m:e>
                              <m:r>
                                <a:rPr lang="es-CO" i="0">
                                  <a:latin typeface="Cambria Math" panose="02040503050406030204" pitchFamily="18" charset="0"/>
                                </a:rPr>
                                <m:t>&amp; </m:t>
                              </m:r>
                              <m:sSup>
                                <m:sSupPr>
                                  <m:ctrlPr>
                                    <a:rPr lang="es-CO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CO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CO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s-CO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s-CO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s-CO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d>
                                      <m:r>
                                        <a:rPr lang="es-CO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s-CO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s-CO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CO" i="0"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</m:eqArr>
                        </m:e>
                      </m:nary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1723" y="3821411"/>
                <a:ext cx="3417922" cy="84856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22225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2">
                    <a:lumMod val="75000"/>
                  </a:schemeClr>
                </a:solidFill>
              </a:rPr>
              <a:t>Deep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lang="es-CO" sz="2400" dirty="0" smtClean="0"/>
              <a:t>Múltiples capas ocultas</a:t>
            </a:r>
          </a:p>
          <a:p>
            <a:pPr lvl="1"/>
            <a:r>
              <a:rPr lang="es-CO" sz="2400" dirty="0" smtClean="0"/>
              <a:t>Mayor capacidad de representación</a:t>
            </a:r>
          </a:p>
          <a:p>
            <a:pPr lvl="1"/>
            <a:r>
              <a:rPr lang="es-CO" sz="2400" dirty="0" smtClean="0"/>
              <a:t>Aplicaciones modernas de IA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39937907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>
                <a:solidFill>
                  <a:schemeClr val="accent2">
                    <a:lumMod val="75000"/>
                  </a:schemeClr>
                </a:solidFill>
              </a:rPr>
              <a:t>Función de Pérdida</a:t>
            </a:r>
            <a:endParaRPr lang="es-CO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400" dirty="0" smtClean="0"/>
              <a:t>Error cuadrático medio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400" dirty="0" smtClean="0"/>
              <a:t>Minimización del error promedio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4075058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>
                <a:solidFill>
                  <a:schemeClr val="accent2">
                    <a:lumMod val="75000"/>
                  </a:schemeClr>
                </a:solidFill>
              </a:rPr>
              <a:t>Redes </a:t>
            </a:r>
            <a:r>
              <a:rPr lang="es-CO" dirty="0" err="1" smtClean="0">
                <a:solidFill>
                  <a:schemeClr val="accent2">
                    <a:lumMod val="75000"/>
                  </a:schemeClr>
                </a:solidFill>
              </a:rPr>
              <a:t>Convolucionales</a:t>
            </a:r>
            <a:r>
              <a:rPr lang="es-CO" dirty="0" smtClean="0">
                <a:solidFill>
                  <a:schemeClr val="accent2">
                    <a:lumMod val="75000"/>
                  </a:schemeClr>
                </a:solidFill>
              </a:rPr>
              <a:t> (CNN)</a:t>
            </a:r>
            <a:endParaRPr lang="es-CO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000" dirty="0" smtClean="0"/>
              <a:t>Uso de filtros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000" dirty="0" smtClean="0"/>
              <a:t>Detectores locales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000" dirty="0" smtClean="0"/>
              <a:t>Clasificación de imágenes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16588919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>
                <a:solidFill>
                  <a:schemeClr val="accent2">
                    <a:lumMod val="75000"/>
                  </a:schemeClr>
                </a:solidFill>
              </a:rPr>
              <a:t>Redes </a:t>
            </a:r>
            <a:r>
              <a:rPr lang="es-CO" dirty="0" err="1" smtClean="0">
                <a:solidFill>
                  <a:schemeClr val="accent2">
                    <a:lumMod val="75000"/>
                  </a:schemeClr>
                </a:solidFill>
              </a:rPr>
              <a:t>Convolucionales</a:t>
            </a:r>
            <a:r>
              <a:rPr lang="es-CO" dirty="0" smtClean="0">
                <a:solidFill>
                  <a:schemeClr val="accent2">
                    <a:lumMod val="75000"/>
                  </a:schemeClr>
                </a:solidFill>
              </a:rPr>
              <a:t> (CNN)</a:t>
            </a:r>
            <a:endParaRPr lang="es-CO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Marcador de contenido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6394" y="1728173"/>
            <a:ext cx="4210050" cy="2143125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1445418" y="3558369"/>
            <a:ext cx="507615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s-CO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endParaRPr lang="es-CO" sz="20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r>
              <a:rPr lang="es-CO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Las colecciones de puntos localmente interesantes se combinan para construir clasificadores. Con </a:t>
            </a:r>
            <a:r>
              <a:rPr lang="es-CO" dirty="0" smtClean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DL se </a:t>
            </a:r>
            <a:r>
              <a:rPr lang="es-CO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aprenden implícitamente estos rasgos (</a:t>
            </a:r>
            <a:r>
              <a:rPr lang="es-CO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features</a:t>
            </a:r>
            <a:r>
              <a:rPr lang="es-CO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).</a:t>
            </a:r>
            <a:endParaRPr lang="es-CO" sz="20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4013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2">
                    <a:lumMod val="75000"/>
                  </a:schemeClr>
                </a:solidFill>
              </a:rPr>
              <a:t>Pooling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400" dirty="0" smtClean="0"/>
              <a:t>Reducción de </a:t>
            </a:r>
            <a:r>
              <a:rPr lang="es-CO" sz="2400" dirty="0" err="1" smtClean="0"/>
              <a:t>dimensionalidad</a:t>
            </a:r>
            <a:endParaRPr lang="es-CO" sz="2400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400" dirty="0" smtClean="0"/>
              <a:t>Max </a:t>
            </a:r>
            <a:r>
              <a:rPr lang="es-CO" sz="2400" dirty="0" err="1" smtClean="0"/>
              <a:t>pooling</a:t>
            </a:r>
            <a:endParaRPr lang="es-CO" sz="2400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400" dirty="0" smtClean="0"/>
              <a:t>Conservación de rasgos importantes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35092689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>
                <a:solidFill>
                  <a:schemeClr val="accent2">
                    <a:lumMod val="75000"/>
                  </a:schemeClr>
                </a:solidFill>
              </a:rPr>
              <a:t>Conclusiones</a:t>
            </a:r>
            <a:endParaRPr lang="es-CO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400" dirty="0" smtClean="0"/>
              <a:t>Inspiración biológica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400" dirty="0" err="1" smtClean="0"/>
              <a:t>Backpropagation</a:t>
            </a:r>
            <a:r>
              <a:rPr lang="es-CO" sz="2400" dirty="0" smtClean="0"/>
              <a:t> es fundamental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400" dirty="0" err="1" smtClean="0"/>
              <a:t>Deep</a:t>
            </a:r>
            <a:r>
              <a:rPr lang="es-CO" sz="2400" dirty="0" smtClean="0"/>
              <a:t> </a:t>
            </a:r>
            <a:r>
              <a:rPr lang="es-CO" sz="2400" dirty="0" err="1" smtClean="0"/>
              <a:t>Learning</a:t>
            </a:r>
            <a:r>
              <a:rPr lang="es-CO" sz="2400" dirty="0" smtClean="0"/>
              <a:t> revoluciona la IA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23549974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16498" y="1804122"/>
            <a:ext cx="1710839" cy="54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36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784</TotalTime>
  <Words>732</Words>
  <Application>Microsoft Office PowerPoint</Application>
  <PresentationFormat>Presentación en pantalla (16:9)</PresentationFormat>
  <Paragraphs>216</Paragraphs>
  <Slides>48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48</vt:i4>
      </vt:variant>
    </vt:vector>
  </HeadingPairs>
  <TitlesOfParts>
    <vt:vector size="56" baseType="lpstr">
      <vt:lpstr>Arial</vt:lpstr>
      <vt:lpstr>Calibri</vt:lpstr>
      <vt:lpstr>Cambria Math</vt:lpstr>
      <vt:lpstr>Times New Roman</vt:lpstr>
      <vt:lpstr>Trebuchet MS</vt:lpstr>
      <vt:lpstr>Wingdings</vt:lpstr>
      <vt:lpstr>Wingdings 3</vt:lpstr>
      <vt:lpstr>Faceta</vt:lpstr>
      <vt:lpstr>Presentación de PowerPoint</vt:lpstr>
      <vt:lpstr>¿Qué es el aprendizaje?</vt:lpstr>
      <vt:lpstr>¿Qué es el aprendizaje?</vt:lpstr>
      <vt:lpstr>¿Qué es el aprendizaje?</vt:lpstr>
      <vt:lpstr>Historia de las RNAs</vt:lpstr>
      <vt:lpstr>¿Qué es una Red Neuronal Artificial?</vt:lpstr>
      <vt:lpstr>Neurona Natural</vt:lpstr>
      <vt:lpstr>Presentación de PowerPoint</vt:lpstr>
      <vt:lpstr>Neurona Artificial</vt:lpstr>
      <vt:lpstr>Neurona Artificial</vt:lpstr>
      <vt:lpstr>Neurona Artificial</vt:lpstr>
      <vt:lpstr>Funciones de Activación</vt:lpstr>
      <vt:lpstr>Funciones de Activación</vt:lpstr>
      <vt:lpstr>Funciones de Activación</vt:lpstr>
      <vt:lpstr>Función Paso unitario</vt:lpstr>
      <vt:lpstr>Función Sigmoide</vt:lpstr>
      <vt:lpstr>Función ReLU</vt:lpstr>
      <vt:lpstr>Ejemplos de clasificación</vt:lpstr>
      <vt:lpstr>Ejemplos de clasificación</vt:lpstr>
      <vt:lpstr>Generalización</vt:lpstr>
      <vt:lpstr>Evolución de la Pérdida</vt:lpstr>
      <vt:lpstr>Clasificación con RNAs</vt:lpstr>
      <vt:lpstr>Propagación</vt:lpstr>
      <vt:lpstr>Propagación</vt:lpstr>
      <vt:lpstr>Propagación</vt:lpstr>
      <vt:lpstr>Propagación</vt:lpstr>
      <vt:lpstr>Propagación</vt:lpstr>
      <vt:lpstr>Aprendizaje Supervisado</vt:lpstr>
      <vt:lpstr>Aprendizaje supervisado</vt:lpstr>
      <vt:lpstr>Underfitting</vt:lpstr>
      <vt:lpstr>Overfitting</vt:lpstr>
      <vt:lpstr>Aprendizaje generalizado</vt:lpstr>
      <vt:lpstr>Dataset MNIST</vt:lpstr>
      <vt:lpstr>Dataset MNIST</vt:lpstr>
      <vt:lpstr>Dataset MNIST</vt:lpstr>
      <vt:lpstr>Aprendizaje</vt:lpstr>
      <vt:lpstr>Aprendizaje</vt:lpstr>
      <vt:lpstr>Backpropagation</vt:lpstr>
      <vt:lpstr>Descenso del Gradiente</vt:lpstr>
      <vt:lpstr>Función de pérdida</vt:lpstr>
      <vt:lpstr>Función de pérdida</vt:lpstr>
      <vt:lpstr>Deep Learning</vt:lpstr>
      <vt:lpstr>Función de Pérdida</vt:lpstr>
      <vt:lpstr>Redes Convolucionales (CNN)</vt:lpstr>
      <vt:lpstr>Redes Convolucionales (CNN)</vt:lpstr>
      <vt:lpstr>Pooling</vt:lpstr>
      <vt:lpstr>Conclusiones</vt:lpstr>
      <vt:lpstr>Presentación de PowerPoint</vt:lpstr>
    </vt:vector>
  </TitlesOfParts>
  <Company>Perplexity AI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usuario pc</cp:lastModifiedBy>
  <cp:revision>93</cp:revision>
  <dcterms:created xsi:type="dcterms:W3CDTF">2026-02-02T17:28:11Z</dcterms:created>
  <dcterms:modified xsi:type="dcterms:W3CDTF">2026-09-16T18:09:57Z</dcterms:modified>
</cp:coreProperties>
</file>