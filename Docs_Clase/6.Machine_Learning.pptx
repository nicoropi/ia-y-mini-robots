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38"/>
  </p:notesMasterIdLst>
  <p:sldIdLst>
    <p:sldId id="343" r:id="rId2"/>
    <p:sldId id="370" r:id="rId3"/>
    <p:sldId id="371" r:id="rId4"/>
    <p:sldId id="374" r:id="rId5"/>
    <p:sldId id="393" r:id="rId6"/>
    <p:sldId id="394" r:id="rId7"/>
    <p:sldId id="395" r:id="rId8"/>
    <p:sldId id="373" r:id="rId9"/>
    <p:sldId id="396" r:id="rId10"/>
    <p:sldId id="399" r:id="rId11"/>
    <p:sldId id="397" r:id="rId12"/>
    <p:sldId id="400" r:id="rId13"/>
    <p:sldId id="375" r:id="rId14"/>
    <p:sldId id="376" r:id="rId15"/>
    <p:sldId id="398" r:id="rId16"/>
    <p:sldId id="378" r:id="rId17"/>
    <p:sldId id="380" r:id="rId18"/>
    <p:sldId id="381" r:id="rId19"/>
    <p:sldId id="401" r:id="rId20"/>
    <p:sldId id="382" r:id="rId21"/>
    <p:sldId id="402" r:id="rId22"/>
    <p:sldId id="403" r:id="rId23"/>
    <p:sldId id="383" r:id="rId24"/>
    <p:sldId id="404" r:id="rId25"/>
    <p:sldId id="384" r:id="rId26"/>
    <p:sldId id="385" r:id="rId27"/>
    <p:sldId id="405" r:id="rId28"/>
    <p:sldId id="387" r:id="rId29"/>
    <p:sldId id="386" r:id="rId30"/>
    <p:sldId id="406" r:id="rId31"/>
    <p:sldId id="388" r:id="rId32"/>
    <p:sldId id="389" r:id="rId33"/>
    <p:sldId id="407" r:id="rId34"/>
    <p:sldId id="392" r:id="rId35"/>
    <p:sldId id="408" r:id="rId36"/>
    <p:sldId id="279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79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1197" y="552678"/>
            <a:ext cx="6064897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INTRODUCCIÓN A MACHINE LEARNING</a:t>
            </a:r>
            <a:endParaRPr lang="en-US" sz="4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835243" y="2861304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s-CO" sz="105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72799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s-CO" dirty="0" smtClean="0"/>
          </a:p>
          <a:p>
            <a:r>
              <a:rPr lang="es-CO" sz="2000" dirty="0" smtClean="0"/>
              <a:t>Machine </a:t>
            </a:r>
            <a:r>
              <a:rPr lang="es-CO" sz="2000" dirty="0" err="1" smtClean="0"/>
              <a:t>Learning</a:t>
            </a:r>
            <a:r>
              <a:rPr lang="es-CO" sz="2000" dirty="0" smtClean="0"/>
              <a:t> (ML) es un campo de la IA que permite a los computadores aprender sin ser explícitamente programados.</a:t>
            </a:r>
          </a:p>
          <a:p>
            <a:r>
              <a:rPr lang="es-CO" sz="2000" dirty="0" smtClean="0"/>
              <a:t>Su auge comenzó alrededor del 2005 con los avances en redes neuronales profundas.</a:t>
            </a:r>
          </a:p>
          <a:p>
            <a:r>
              <a:rPr lang="es-CO" sz="2000" dirty="0" smtClean="0"/>
              <a:t>Aplicaciones comunes incluyen traducción automática, filtros de spam, reconocimiento de voz, y más.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663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¿Qué es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r>
              <a:rPr b="1" dirty="0" smtClean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O" sz="2400" dirty="0" smtClean="0"/>
              <a:t>Definiciones de ML</a:t>
            </a:r>
          </a:p>
          <a:p>
            <a:pPr lvl="1"/>
            <a:r>
              <a:rPr lang="es-CO" sz="2200" dirty="0"/>
              <a:t>ML es el campo de estudio que le da a los computadores la habilidad para aprender sin que sean explícitamente </a:t>
            </a:r>
            <a:r>
              <a:rPr lang="es-CO" sz="2200" dirty="0" smtClean="0"/>
              <a:t>programados.</a:t>
            </a:r>
          </a:p>
          <a:p>
            <a:pPr lvl="1"/>
            <a:r>
              <a:rPr lang="es-CO" sz="2200" dirty="0" smtClean="0"/>
              <a:t>ML </a:t>
            </a:r>
            <a:r>
              <a:rPr lang="es-CO" sz="2200" dirty="0"/>
              <a:t>es la ciencia </a:t>
            </a:r>
            <a:r>
              <a:rPr lang="es-CO" sz="2200" dirty="0" smtClean="0"/>
              <a:t>de </a:t>
            </a:r>
            <a:r>
              <a:rPr lang="es-CO" sz="2200" dirty="0"/>
              <a:t>programar los </a:t>
            </a:r>
            <a:r>
              <a:rPr lang="es-CO" sz="2200" dirty="0" smtClean="0"/>
              <a:t>computadores </a:t>
            </a:r>
            <a:r>
              <a:rPr lang="es-CO" sz="2200" dirty="0"/>
              <a:t>de manera </a:t>
            </a:r>
            <a:r>
              <a:rPr lang="es-CO" sz="2200" dirty="0" smtClean="0"/>
              <a:t>que aprendan de </a:t>
            </a:r>
            <a:r>
              <a:rPr lang="es-CO" sz="2200" dirty="0"/>
              <a:t>los </a:t>
            </a:r>
            <a:r>
              <a:rPr lang="es-CO" sz="2200" dirty="0" smtClean="0"/>
              <a:t>datos.</a:t>
            </a:r>
          </a:p>
          <a:p>
            <a:pPr lvl="1"/>
            <a:r>
              <a:rPr lang="es-CO" sz="2200" dirty="0" smtClean="0"/>
              <a:t>Es un programa </a:t>
            </a:r>
            <a:r>
              <a:rPr lang="es-CO" sz="2200" dirty="0"/>
              <a:t>de computador </a:t>
            </a:r>
            <a:r>
              <a:rPr lang="es-CO" sz="2200" dirty="0" smtClean="0"/>
              <a:t>que aprende </a:t>
            </a:r>
            <a:r>
              <a:rPr lang="es-CO" sz="2200" dirty="0"/>
              <a:t>de la experiencia </a:t>
            </a:r>
            <a:r>
              <a:rPr lang="es-CO" sz="2200" b="1" dirty="0"/>
              <a:t>E</a:t>
            </a:r>
            <a:r>
              <a:rPr lang="es-CO" sz="2200" dirty="0"/>
              <a:t>, con respecto a </a:t>
            </a:r>
            <a:r>
              <a:rPr lang="es-CO" sz="2200" dirty="0" smtClean="0"/>
              <a:t>una </a:t>
            </a:r>
            <a:r>
              <a:rPr lang="es-CO" sz="2200" dirty="0"/>
              <a:t>tarea </a:t>
            </a:r>
            <a:r>
              <a:rPr lang="es-CO" sz="2200" b="1" dirty="0"/>
              <a:t>T</a:t>
            </a:r>
            <a:r>
              <a:rPr lang="es-CO" sz="2200" dirty="0"/>
              <a:t>, con </a:t>
            </a:r>
            <a:r>
              <a:rPr lang="es-CO" sz="2200" dirty="0" smtClean="0"/>
              <a:t>una </a:t>
            </a:r>
            <a:r>
              <a:rPr lang="es-CO" sz="2200" dirty="0"/>
              <a:t>medida de comportamiento </a:t>
            </a:r>
            <a:r>
              <a:rPr lang="es-CO" sz="2200" b="1" dirty="0"/>
              <a:t>P</a:t>
            </a:r>
            <a:r>
              <a:rPr lang="es-CO" sz="2200" dirty="0"/>
              <a:t>, si su comportamiento sobre </a:t>
            </a:r>
            <a:r>
              <a:rPr lang="es-CO" sz="2200" b="1" dirty="0"/>
              <a:t>T</a:t>
            </a:r>
            <a:r>
              <a:rPr lang="es-CO" sz="2200" dirty="0"/>
              <a:t>, medido por </a:t>
            </a:r>
            <a:r>
              <a:rPr lang="es-CO" sz="2200" b="1" dirty="0"/>
              <a:t>P</a:t>
            </a:r>
            <a:r>
              <a:rPr lang="es-CO" sz="2200" dirty="0"/>
              <a:t>, mejora con la </a:t>
            </a:r>
            <a:r>
              <a:rPr lang="es-CO" sz="2200" dirty="0" smtClean="0"/>
              <a:t>experiencia.</a:t>
            </a: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148618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vs.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1800" dirty="0" smtClean="0"/>
              <a:t>Programación Tradicional: Se proporcionan reglas y datos para obtener respuestas.</a:t>
            </a:r>
          </a:p>
          <a:p>
            <a:endParaRPr dirty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35104" y="2571750"/>
            <a:ext cx="4338955" cy="172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7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vs.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smtClean="0"/>
              <a:t>Machine </a:t>
            </a:r>
            <a:r>
              <a:rPr lang="es-CO" sz="2000" dirty="0" err="1" smtClean="0"/>
              <a:t>Learning</a:t>
            </a:r>
            <a:r>
              <a:rPr lang="es-CO" sz="2000" dirty="0" smtClean="0"/>
              <a:t>: Se proporcionan datos y respuestas para aprender reglas</a:t>
            </a:r>
            <a:r>
              <a:rPr lang="es-CO" dirty="0" smtClean="0"/>
              <a:t>.</a:t>
            </a:r>
          </a:p>
          <a:p>
            <a:endParaRPr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92362" y="2738022"/>
            <a:ext cx="4359275" cy="156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9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Ejemplo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Spam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El </a:t>
            </a:r>
            <a:r>
              <a:rPr lang="es-CO" sz="1800" dirty="0"/>
              <a:t>filtro </a:t>
            </a:r>
            <a:r>
              <a:rPr lang="es-CO" sz="1800" dirty="0" err="1" smtClean="0"/>
              <a:t>spam</a:t>
            </a:r>
            <a:r>
              <a:rPr lang="es-CO" sz="1800" dirty="0" smtClean="0"/>
              <a:t>, usa emails rotulados normales y </a:t>
            </a:r>
            <a:r>
              <a:rPr lang="es-CO" sz="1800" dirty="0" err="1" smtClean="0"/>
              <a:t>spam</a:t>
            </a:r>
            <a:r>
              <a:rPr lang="es-CO" sz="1800" dirty="0" smtClean="0"/>
              <a:t>, </a:t>
            </a:r>
            <a:r>
              <a:rPr lang="es-CO" sz="1800" dirty="0"/>
              <a:t>aprende </a:t>
            </a:r>
            <a:r>
              <a:rPr lang="es-CO" sz="1800" dirty="0" smtClean="0"/>
              <a:t>de ellos cómo </a:t>
            </a:r>
            <a:r>
              <a:rPr lang="es-CO" sz="1800" dirty="0"/>
              <a:t>filtrar </a:t>
            </a:r>
            <a:r>
              <a:rPr lang="es-CO" sz="1800" dirty="0" smtClean="0"/>
              <a:t>el </a:t>
            </a:r>
            <a:r>
              <a:rPr lang="es-CO" sz="1800" dirty="0" err="1" smtClean="0"/>
              <a:t>spam</a:t>
            </a:r>
            <a:r>
              <a:rPr lang="es-CO" sz="1800" dirty="0" smtClean="0"/>
              <a:t>, el </a:t>
            </a:r>
            <a:r>
              <a:rPr lang="es-CO" sz="1800" dirty="0" err="1" smtClean="0"/>
              <a:t>dataset</a:t>
            </a:r>
            <a:r>
              <a:rPr lang="es-CO" sz="1800" dirty="0"/>
              <a:t>;</a:t>
            </a:r>
            <a:r>
              <a:rPr lang="es-CO" sz="1800" dirty="0" smtClean="0"/>
              <a:t> cuando entra un correo lo marca </a:t>
            </a:r>
            <a:r>
              <a:rPr lang="es-CO" sz="1800" dirty="0"/>
              <a:t>o no como </a:t>
            </a:r>
            <a:r>
              <a:rPr lang="es-CO" sz="1800" dirty="0" err="1" smtClean="0"/>
              <a:t>spam</a:t>
            </a:r>
            <a:r>
              <a:rPr lang="es-CO" sz="1800" dirty="0" smtClean="0"/>
              <a:t>. </a:t>
            </a:r>
          </a:p>
          <a:p>
            <a:r>
              <a:rPr lang="es-CO" sz="1800" dirty="0" smtClean="0"/>
              <a:t>En nuestra definición de ML:</a:t>
            </a:r>
          </a:p>
          <a:p>
            <a:pPr lvl="1"/>
            <a:r>
              <a:rPr lang="es-CO" sz="1650" b="1" dirty="0" smtClean="0"/>
              <a:t>T </a:t>
            </a:r>
            <a:r>
              <a:rPr lang="es-CO" sz="1650" dirty="0" smtClean="0"/>
              <a:t>tarea: rotular </a:t>
            </a:r>
            <a:r>
              <a:rPr lang="es-CO" sz="1650" dirty="0"/>
              <a:t>los correos </a:t>
            </a:r>
            <a:r>
              <a:rPr lang="es-CO" sz="1650" dirty="0" smtClean="0"/>
              <a:t>como </a:t>
            </a:r>
            <a:r>
              <a:rPr lang="es-CO" sz="1650" dirty="0" err="1"/>
              <a:t>spam</a:t>
            </a:r>
            <a:r>
              <a:rPr lang="es-CO" sz="1650" dirty="0"/>
              <a:t>, </a:t>
            </a:r>
            <a:r>
              <a:rPr lang="es-CO" sz="1650" dirty="0" smtClean="0"/>
              <a:t>o normales. </a:t>
            </a:r>
          </a:p>
          <a:p>
            <a:pPr lvl="1"/>
            <a:r>
              <a:rPr lang="es-CO" sz="1650" b="1" dirty="0" smtClean="0"/>
              <a:t>E</a:t>
            </a:r>
            <a:r>
              <a:rPr lang="es-CO" sz="1650" dirty="0" smtClean="0"/>
              <a:t> experiencia: Conjunto </a:t>
            </a:r>
            <a:r>
              <a:rPr lang="es-CO" sz="1650" dirty="0"/>
              <a:t>de correos buenos y malos, el data </a:t>
            </a:r>
            <a:r>
              <a:rPr lang="es-CO" sz="1650" dirty="0" smtClean="0"/>
              <a:t>set.</a:t>
            </a:r>
          </a:p>
          <a:p>
            <a:pPr lvl="1"/>
            <a:r>
              <a:rPr lang="es-CO" sz="1650" b="1" dirty="0" smtClean="0"/>
              <a:t>P</a:t>
            </a:r>
            <a:r>
              <a:rPr lang="es-CO" sz="1650" dirty="0" smtClean="0"/>
              <a:t> la predicción: Califica un correo como </a:t>
            </a:r>
            <a:r>
              <a:rPr lang="es-CO" sz="1650" dirty="0" err="1"/>
              <a:t>spam</a:t>
            </a:r>
            <a:r>
              <a:rPr lang="es-CO" sz="1650" dirty="0"/>
              <a:t> o no; </a:t>
            </a:r>
            <a:r>
              <a:rPr lang="es-CO" sz="1650" dirty="0" smtClean="0"/>
              <a:t>se calcula </a:t>
            </a:r>
            <a:r>
              <a:rPr lang="es-CO" sz="1650" dirty="0"/>
              <a:t>una precisión. </a:t>
            </a:r>
            <a:endParaRPr sz="1650" dirty="0"/>
          </a:p>
        </p:txBody>
      </p:sp>
    </p:spTree>
    <p:extLst>
      <p:ext uri="{BB962C8B-B14F-4D97-AF65-F5344CB8AC3E}">
        <p14:creationId xmlns:p14="http://schemas.microsoft.com/office/powerpoint/2010/main" val="187152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Ejemplo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Spam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490" y="1620838"/>
            <a:ext cx="3589858" cy="2909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415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Programación tradicional</a:t>
            </a:r>
          </a:p>
          <a:p>
            <a:pPr lvl="1"/>
            <a:r>
              <a:rPr lang="es-CO" sz="2000" dirty="0" smtClean="0"/>
              <a:t>Se basa en reglas explícitas</a:t>
            </a:r>
          </a:p>
          <a:p>
            <a:r>
              <a:rPr lang="es-CO" sz="2000" dirty="0" smtClean="0"/>
              <a:t>ML </a:t>
            </a:r>
          </a:p>
          <a:p>
            <a:pPr lvl="1"/>
            <a:r>
              <a:rPr lang="es-CO" sz="2000" dirty="0" smtClean="0"/>
              <a:t>Se basa en datos y modelos</a:t>
            </a:r>
          </a:p>
        </p:txBody>
      </p:sp>
    </p:spTree>
    <p:extLst>
      <p:ext uri="{BB962C8B-B14F-4D97-AF65-F5344CB8AC3E}">
        <p14:creationId xmlns:p14="http://schemas.microsoft.com/office/powerpoint/2010/main" val="167444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Ejemplo: cálculo de la raíz cuadrada, programación tradicional</a:t>
            </a:r>
          </a:p>
          <a:p>
            <a:endParaRPr lang="es-CO" sz="2000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81" y="2384304"/>
            <a:ext cx="32004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9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Ejemplo: cálculo de la raíz cuadrada, programación tradicional</a:t>
            </a:r>
          </a:p>
          <a:p>
            <a:endParaRPr lang="es-CO" sz="2000" dirty="0" smtClean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38821" y="2291235"/>
            <a:ext cx="3999865" cy="233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1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Ejemplo: cálculo de la raíz cuadrada, ML</a:t>
            </a:r>
          </a:p>
          <a:p>
            <a:endParaRPr lang="es-CO" dirty="0" smtClean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90" y="2206925"/>
            <a:ext cx="5184197" cy="82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8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Ejemplo: cálculo de la raíz cuadrada, ML</a:t>
            </a:r>
          </a:p>
          <a:p>
            <a:endParaRPr lang="es-CO" dirty="0" smtClean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2070448" y="2099550"/>
            <a:ext cx="3691890" cy="234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2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¿Por qué usar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smtClean="0"/>
              <a:t>Ideal para problemas complejos con muchas reglas.</a:t>
            </a:r>
          </a:p>
          <a:p>
            <a:r>
              <a:rPr lang="es-CO" sz="2000" dirty="0" smtClean="0"/>
              <a:t>Se adapta a entornos fluctuantes.</a:t>
            </a:r>
          </a:p>
          <a:p>
            <a:r>
              <a:rPr lang="es-CO" sz="2000" dirty="0" smtClean="0"/>
              <a:t>Descubre patrones ocultos en grandes cantidades de datos</a:t>
            </a:r>
            <a:r>
              <a:rPr lang="es-CO" dirty="0" smtClean="0"/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40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>
                <a:solidFill>
                  <a:schemeClr val="accent2">
                    <a:lumMod val="75000"/>
                  </a:schemeClr>
                </a:solidFill>
              </a:rPr>
              <a:t>¿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Por qué usar ML?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Adaptación automática a cambios</a:t>
            </a:r>
          </a:p>
          <a:p>
            <a:pPr lvl="1"/>
            <a:r>
              <a:rPr lang="es-CO" sz="2000" dirty="0" smtClean="0"/>
              <a:t>Mejor manejo de ambientes dinámicos</a:t>
            </a:r>
          </a:p>
          <a:p>
            <a:pPr lvl="1"/>
            <a:r>
              <a:rPr lang="es-CO" sz="2000" dirty="0" smtClean="0"/>
              <a:t>Descubrimiento de patrones ocultos</a:t>
            </a:r>
          </a:p>
          <a:p>
            <a:pPr lvl="1"/>
            <a:r>
              <a:rPr lang="es-CO" sz="2000" dirty="0" smtClean="0"/>
              <a:t>Aplicación en Big Data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87056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2">
                    <a:lumMod val="75000"/>
                  </a:schemeClr>
                </a:solidFill>
              </a:rPr>
              <a:t>Aplicaciones de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</a:t>
            </a:r>
            <a:endParaRPr lang="es-CO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O" sz="1800" dirty="0"/>
              <a:t>Traductores automáticos</a:t>
            </a:r>
          </a:p>
          <a:p>
            <a:r>
              <a:rPr lang="es-CO" sz="1800" dirty="0"/>
              <a:t>Filtros de </a:t>
            </a:r>
            <a:r>
              <a:rPr lang="es-CO" sz="1800" dirty="0" err="1"/>
              <a:t>spam</a:t>
            </a:r>
            <a:endParaRPr lang="es-CO" sz="1800" dirty="0"/>
          </a:p>
          <a:p>
            <a:r>
              <a:rPr lang="es-CO" sz="1800" dirty="0"/>
              <a:t>Reconocimiento de voz</a:t>
            </a:r>
          </a:p>
          <a:p>
            <a:r>
              <a:rPr lang="es-CO" sz="1800" dirty="0"/>
              <a:t>Reconocimiento de imágenes</a:t>
            </a:r>
          </a:p>
          <a:p>
            <a:r>
              <a:rPr lang="es-CO" sz="1800" dirty="0"/>
              <a:t>Recomendación de productos</a:t>
            </a:r>
          </a:p>
          <a:p>
            <a:endParaRPr lang="es-CO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CO" sz="1800" dirty="0"/>
              <a:t>Asistentes personales virtuales</a:t>
            </a:r>
          </a:p>
          <a:p>
            <a:r>
              <a:rPr lang="es-CO" sz="1800" dirty="0"/>
              <a:t>Vehículos autónomos</a:t>
            </a:r>
          </a:p>
          <a:p>
            <a:r>
              <a:rPr lang="es-CO" sz="1800" dirty="0"/>
              <a:t>Detección de fraudes</a:t>
            </a:r>
          </a:p>
          <a:p>
            <a:r>
              <a:rPr lang="es-CO" sz="1800" dirty="0"/>
              <a:t>Predicción del tráfico</a:t>
            </a:r>
          </a:p>
          <a:p>
            <a:r>
              <a:rPr lang="es-CO" sz="1800" dirty="0"/>
              <a:t>Diagnóstico médico</a:t>
            </a:r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5535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Algoritmos de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Regresión lineal </a:t>
            </a:r>
            <a:endParaRPr lang="es-CO" sz="2000" dirty="0"/>
          </a:p>
          <a:p>
            <a:r>
              <a:rPr lang="es-CO" sz="2000" dirty="0" smtClean="0"/>
              <a:t>Regresión logística</a:t>
            </a:r>
          </a:p>
          <a:p>
            <a:r>
              <a:rPr sz="2000" dirty="0" smtClean="0"/>
              <a:t>K-Nearest </a:t>
            </a:r>
            <a:r>
              <a:rPr sz="2000" dirty="0"/>
              <a:t>Neighbors (</a:t>
            </a:r>
            <a:r>
              <a:rPr sz="2000" dirty="0" smtClean="0"/>
              <a:t>KNN)</a:t>
            </a:r>
            <a:endParaRPr lang="es-CO" sz="2000" dirty="0" smtClean="0"/>
          </a:p>
          <a:p>
            <a:r>
              <a:rPr sz="2000" dirty="0" smtClean="0"/>
              <a:t>Support </a:t>
            </a:r>
            <a:r>
              <a:rPr sz="2000" dirty="0"/>
              <a:t>Vector Machine (</a:t>
            </a:r>
            <a:r>
              <a:rPr sz="2000" dirty="0" smtClean="0"/>
              <a:t>SVM)</a:t>
            </a:r>
            <a:endParaRPr lang="es-CO" sz="2000" dirty="0" smtClean="0"/>
          </a:p>
          <a:p>
            <a:r>
              <a:rPr lang="es-CO" sz="2000" dirty="0" smtClean="0"/>
              <a:t>Árboles de decisión</a:t>
            </a:r>
          </a:p>
          <a:p>
            <a:r>
              <a:rPr sz="2000" dirty="0" smtClean="0"/>
              <a:t>Bayes</a:t>
            </a:r>
            <a:r>
              <a:rPr lang="es-CO" sz="2000" dirty="0" smtClean="0"/>
              <a:t> ingenuo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3790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Tipos de Aprendizaje 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Aprendizaje Supervisado.</a:t>
            </a:r>
          </a:p>
          <a:p>
            <a:r>
              <a:rPr lang="es-CO" sz="2000" dirty="0" smtClean="0"/>
              <a:t>Aprendizaje No Supervisado.</a:t>
            </a:r>
          </a:p>
          <a:p>
            <a:r>
              <a:rPr lang="es-CO" sz="2000" dirty="0" smtClean="0"/>
              <a:t>Aprendizaje </a:t>
            </a:r>
            <a:r>
              <a:rPr lang="es-CO" sz="2000" dirty="0" err="1" smtClean="0"/>
              <a:t>Semi</a:t>
            </a:r>
            <a:r>
              <a:rPr lang="es-CO" sz="2000" dirty="0" smtClean="0"/>
              <a:t>-Supervisado.</a:t>
            </a:r>
          </a:p>
          <a:p>
            <a:r>
              <a:rPr lang="es-CO" sz="2000" dirty="0" smtClean="0"/>
              <a:t>Aprendizaje por Refuerzo (</a:t>
            </a:r>
            <a:r>
              <a:rPr lang="es-CO" sz="2000" dirty="0" err="1" smtClean="0"/>
              <a:t>Reinforcement</a:t>
            </a:r>
            <a:r>
              <a:rPr lang="es-CO" sz="2000" dirty="0" smtClean="0"/>
              <a:t> </a:t>
            </a:r>
            <a:r>
              <a:rPr lang="es-CO" sz="2000" dirty="0" err="1" smtClean="0"/>
              <a:t>Learning</a:t>
            </a:r>
            <a:r>
              <a:rPr lang="es-CO" sz="2000" dirty="0" smtClean="0"/>
              <a:t>).</a:t>
            </a:r>
          </a:p>
          <a:p>
            <a:endParaRPr dirty="0"/>
          </a:p>
          <a:p>
            <a:endParaRPr dirty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43372" y="3324444"/>
            <a:ext cx="5612130" cy="13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8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lvl="1" indent="-257175"/>
            <a:r>
              <a:rPr lang="es-CO" sz="2000" dirty="0"/>
              <a:t>Uso de datos etiquetados</a:t>
            </a:r>
          </a:p>
          <a:p>
            <a:pPr lvl="1"/>
            <a:r>
              <a:rPr lang="es-CO" sz="1850" dirty="0" smtClean="0"/>
              <a:t>Clasificación: </a:t>
            </a:r>
            <a:r>
              <a:rPr lang="es-CO" sz="1850" dirty="0" err="1" smtClean="0"/>
              <a:t>Spam</a:t>
            </a:r>
            <a:r>
              <a:rPr lang="es-CO" sz="1850" dirty="0" smtClean="0"/>
              <a:t>, imágenes, salud</a:t>
            </a:r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702" y="2539854"/>
            <a:ext cx="5612130" cy="204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435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lvl="1" indent="-257175"/>
            <a:r>
              <a:rPr lang="es-CO" sz="2000" dirty="0"/>
              <a:t>Uso de datos etiquetados</a:t>
            </a:r>
          </a:p>
          <a:p>
            <a:pPr lvl="1"/>
            <a:r>
              <a:rPr lang="es-CO" sz="1850" dirty="0" smtClean="0"/>
              <a:t>Regresión: predicción de precios</a:t>
            </a:r>
          </a:p>
        </p:txBody>
      </p:sp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52" y="2434809"/>
            <a:ext cx="4486910" cy="22688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484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No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err="1" smtClean="0"/>
              <a:t>Dataset</a:t>
            </a:r>
            <a:r>
              <a:rPr lang="es-CO" sz="2000" dirty="0" smtClean="0"/>
              <a:t> de aprendizaje no tiene rótulos</a:t>
            </a:r>
          </a:p>
          <a:p>
            <a:pPr lvl="1"/>
            <a:r>
              <a:rPr lang="es-CO" sz="2000" dirty="0" err="1" smtClean="0"/>
              <a:t>Clustering</a:t>
            </a:r>
            <a:r>
              <a:rPr lang="es-CO" sz="2000" dirty="0" smtClean="0"/>
              <a:t>, segmentación clientes</a:t>
            </a:r>
          </a:p>
          <a:p>
            <a:pPr lvl="1"/>
            <a:endParaRPr lang="es-CO" sz="2000" dirty="0" smtClean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720" y="2553530"/>
            <a:ext cx="4140679" cy="21501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309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No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err="1" smtClean="0"/>
              <a:t>Dataset</a:t>
            </a:r>
            <a:r>
              <a:rPr lang="es-CO" sz="2000" dirty="0" smtClean="0"/>
              <a:t> de aprendizaje no tiene rótulos</a:t>
            </a:r>
          </a:p>
          <a:p>
            <a:pPr lvl="1"/>
            <a:r>
              <a:rPr lang="es-CO" sz="2000" dirty="0" smtClean="0"/>
              <a:t>Detección de anomalías</a:t>
            </a:r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723" y="2465986"/>
            <a:ext cx="4250055" cy="2333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383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Semi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-supervisado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err="1" smtClean="0"/>
              <a:t>Dataset</a:t>
            </a:r>
            <a:r>
              <a:rPr lang="es-CO" sz="2000" dirty="0" smtClean="0"/>
              <a:t> de aprendizaje con pocos rótulos</a:t>
            </a:r>
          </a:p>
        </p:txBody>
      </p:sp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772" y="2483358"/>
            <a:ext cx="5562600" cy="259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098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Reforzado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Agente interactúa con el ambiente</a:t>
            </a:r>
          </a:p>
          <a:p>
            <a:pPr lvl="1"/>
            <a:r>
              <a:rPr lang="es-CO" sz="2000" dirty="0" smtClean="0"/>
              <a:t>Hay un sistema de recompensas y penalidades</a:t>
            </a:r>
          </a:p>
          <a:p>
            <a:pPr lvl="1"/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313634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Reforzado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s-CO" sz="2000" dirty="0" smtClean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691" y="1130059"/>
            <a:ext cx="5454374" cy="39268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40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Importancia de los Datos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La irrazonable efectividad de los datos</a:t>
            </a:r>
            <a:endParaRPr lang="es-CO" sz="2000" dirty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56" y="2261559"/>
            <a:ext cx="2600325" cy="255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68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Datos 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smtClean="0"/>
              <a:t>Preparación de los datos:</a:t>
            </a:r>
          </a:p>
          <a:p>
            <a:pPr lvl="1"/>
            <a:r>
              <a:rPr lang="es-CO" sz="1850" dirty="0" smtClean="0"/>
              <a:t>Adquisición</a:t>
            </a:r>
          </a:p>
          <a:p>
            <a:pPr lvl="1"/>
            <a:r>
              <a:rPr lang="es-CO" sz="1850" dirty="0" smtClean="0"/>
              <a:t>Etiquetado</a:t>
            </a:r>
          </a:p>
          <a:p>
            <a:pPr lvl="1"/>
            <a:r>
              <a:rPr lang="es-CO" sz="1850" dirty="0" smtClean="0"/>
              <a:t>Limpieza</a:t>
            </a:r>
          </a:p>
          <a:p>
            <a:pPr lvl="1"/>
            <a:r>
              <a:rPr lang="es-CO" sz="1850" dirty="0" smtClean="0"/>
              <a:t>Transformación</a:t>
            </a:r>
          </a:p>
          <a:p>
            <a:pPr lvl="1"/>
            <a:r>
              <a:rPr lang="es-CO" sz="1850" dirty="0" smtClean="0"/>
              <a:t>Reducción</a:t>
            </a:r>
          </a:p>
        </p:txBody>
      </p:sp>
    </p:spTree>
    <p:extLst>
      <p:ext uri="{BB962C8B-B14F-4D97-AF65-F5344CB8AC3E}">
        <p14:creationId xmlns:p14="http://schemas.microsoft.com/office/powerpoint/2010/main" val="282258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Datos 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lang="es-CO" sz="2000" dirty="0" smtClean="0"/>
              <a:t>Sesgos en los datos: </a:t>
            </a:r>
          </a:p>
          <a:p>
            <a:pPr lvl="1"/>
            <a:r>
              <a:rPr lang="es-CO" sz="2000" dirty="0" smtClean="0"/>
              <a:t>Muestra</a:t>
            </a:r>
          </a:p>
          <a:p>
            <a:pPr lvl="1"/>
            <a:r>
              <a:rPr lang="es-CO" sz="2000" dirty="0" smtClean="0"/>
              <a:t>Exclusión</a:t>
            </a:r>
          </a:p>
          <a:p>
            <a:pPr lvl="1"/>
            <a:r>
              <a:rPr lang="es-CO" sz="2000" dirty="0" smtClean="0"/>
              <a:t>Medición</a:t>
            </a:r>
          </a:p>
          <a:p>
            <a:pPr lvl="1"/>
            <a:r>
              <a:rPr lang="es-CO" sz="2000" dirty="0" smtClean="0"/>
              <a:t>Recuperación</a:t>
            </a:r>
          </a:p>
          <a:p>
            <a:pPr lvl="1"/>
            <a:r>
              <a:rPr lang="es-CO" sz="2000" dirty="0" smtClean="0"/>
              <a:t>Racial</a:t>
            </a:r>
          </a:p>
          <a:p>
            <a:pPr lvl="1"/>
            <a:r>
              <a:rPr lang="es-CO" sz="2000" dirty="0"/>
              <a:t>A</a:t>
            </a:r>
            <a:r>
              <a:rPr lang="es-CO" sz="2000" dirty="0" smtClean="0"/>
              <a:t>sociación.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99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Data Sets 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 smtClean="0"/>
              <a:t>Conjunto de entrenamiento: 60%</a:t>
            </a:r>
          </a:p>
          <a:p>
            <a:r>
              <a:rPr lang="es-CO" sz="2400" dirty="0" smtClean="0"/>
              <a:t>Conjunto de validación: 20%</a:t>
            </a:r>
          </a:p>
          <a:p>
            <a:r>
              <a:rPr lang="es-CO" sz="2400" dirty="0" smtClean="0"/>
              <a:t>Conjunto de prueba: 20%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24470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Conjuntos de Datos 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err="1" smtClean="0"/>
              <a:t>Datasets</a:t>
            </a:r>
            <a:r>
              <a:rPr lang="es-CO" sz="2000" dirty="0" smtClean="0"/>
              <a:t> abiertos</a:t>
            </a:r>
          </a:p>
          <a:p>
            <a:r>
              <a:rPr lang="es-CO" sz="1800" dirty="0"/>
              <a:t>D</a:t>
            </a:r>
            <a:r>
              <a:rPr lang="es-CO" sz="1800" dirty="0" smtClean="0"/>
              <a:t>ata </a:t>
            </a:r>
            <a:r>
              <a:rPr lang="es-CO" sz="1800" dirty="0"/>
              <a:t>sets listos para utilizar, </a:t>
            </a:r>
            <a:r>
              <a:rPr lang="es-CO" sz="1800" dirty="0" smtClean="0"/>
              <a:t>disponibles</a:t>
            </a:r>
            <a:r>
              <a:rPr lang="es-CO" sz="1800" dirty="0"/>
              <a:t>, gratis, para descargar, utilizar, modificar y distribuir, sin restricciones legales o </a:t>
            </a:r>
            <a:r>
              <a:rPr lang="es-CO" sz="1800" dirty="0" smtClean="0"/>
              <a:t>financieras. </a:t>
            </a:r>
            <a:r>
              <a:rPr lang="es-CO" sz="1800" dirty="0" err="1" smtClean="0"/>
              <a:t>B</a:t>
            </a:r>
            <a:r>
              <a:rPr lang="es-CO" sz="1800" dirty="0" err="1" smtClean="0"/>
              <a:t>enchmarck</a:t>
            </a:r>
            <a:r>
              <a:rPr lang="es-CO" sz="1800" dirty="0" smtClean="0"/>
              <a:t>.</a:t>
            </a:r>
            <a:endParaRPr lang="es-CO" sz="1800" dirty="0" smtClean="0"/>
          </a:p>
          <a:p>
            <a:r>
              <a:rPr lang="es-CO" sz="1800" dirty="0" smtClean="0"/>
              <a:t>Para </a:t>
            </a:r>
            <a:r>
              <a:rPr lang="es-CO" sz="1800" dirty="0"/>
              <a:t>tipos de datos más específicos, ver https://research.aimultiple.com/datasets-for-ml/</a:t>
            </a:r>
          </a:p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24394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Conjuntos de Datos 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endParaRPr dirty="0"/>
          </a:p>
          <a:p>
            <a:r>
              <a:rPr lang="es-CO" sz="2000" dirty="0" err="1" smtClean="0"/>
              <a:t>Datasets</a:t>
            </a:r>
            <a:r>
              <a:rPr lang="es-CO" sz="2000" dirty="0" smtClean="0"/>
              <a:t> públicos</a:t>
            </a:r>
            <a:r>
              <a:rPr lang="es-CO" dirty="0" smtClean="0"/>
              <a:t>.</a:t>
            </a:r>
          </a:p>
          <a:p>
            <a:r>
              <a:rPr lang="es-CO" sz="2000" dirty="0" smtClean="0"/>
              <a:t>Data sets de </a:t>
            </a:r>
            <a:r>
              <a:rPr lang="es-CO" sz="2000" dirty="0"/>
              <a:t>proyectos gubernamentales, disponibles al </a:t>
            </a:r>
            <a:r>
              <a:rPr lang="es-CO" sz="2000" dirty="0" smtClean="0"/>
              <a:t>público, como </a:t>
            </a:r>
            <a:r>
              <a:rPr lang="es-CO" sz="2000" dirty="0"/>
              <a:t>censos, datos demográficos y otros. </a:t>
            </a:r>
            <a:endParaRPr lang="es-CO" sz="2000" dirty="0" smtClean="0"/>
          </a:p>
          <a:p>
            <a:r>
              <a:rPr lang="es-CO" sz="2000" dirty="0"/>
              <a:t>En Colombia, </a:t>
            </a:r>
            <a:r>
              <a:rPr lang="es-CO" sz="2000" u="sng" dirty="0" smtClean="0">
                <a:solidFill>
                  <a:schemeClr val="tx1"/>
                </a:solidFill>
              </a:rPr>
              <a:t>Ley </a:t>
            </a:r>
            <a:r>
              <a:rPr lang="es-CO" sz="2000" u="sng" dirty="0">
                <a:solidFill>
                  <a:schemeClr val="tx1"/>
                </a:solidFill>
              </a:rPr>
              <a:t>1712 de 2014 de la Ley de Transparencia y del Derecho de Acceso a la Información Pública </a:t>
            </a:r>
            <a:r>
              <a:rPr lang="es-CO" sz="2000" u="sng" dirty="0" smtClean="0">
                <a:solidFill>
                  <a:schemeClr val="tx1"/>
                </a:solidFill>
              </a:rPr>
              <a:t>Nacional</a:t>
            </a:r>
            <a:endParaRPr lang="es-CO" sz="2000" dirty="0" smtClean="0">
              <a:solidFill>
                <a:schemeClr val="tx1"/>
              </a:solidFill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574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Lenguajes y Librerías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Python (más usado en ML).</a:t>
            </a:r>
          </a:p>
          <a:p>
            <a:r>
              <a:rPr lang="es-CO" sz="2000" dirty="0" smtClean="0"/>
              <a:t>Python: Popular por su simplicidad y librerías como </a:t>
            </a:r>
            <a:r>
              <a:rPr lang="es-CO" sz="2000" dirty="0" err="1" smtClean="0"/>
              <a:t>TensorFlow</a:t>
            </a:r>
            <a:r>
              <a:rPr lang="es-CO" sz="2000" dirty="0" smtClean="0"/>
              <a:t>, </a:t>
            </a:r>
            <a:r>
              <a:rPr lang="es-CO" sz="2000" dirty="0" err="1" smtClean="0"/>
              <a:t>Keras</a:t>
            </a:r>
            <a:r>
              <a:rPr lang="es-CO" sz="2000" dirty="0" smtClean="0"/>
              <a:t>, y </a:t>
            </a:r>
            <a:r>
              <a:rPr lang="es-CO" sz="2000" dirty="0" err="1" smtClean="0"/>
              <a:t>Scikit-Learn</a:t>
            </a:r>
            <a:r>
              <a:rPr lang="es-CO" sz="2000" dirty="0" smtClean="0"/>
              <a:t>.</a:t>
            </a:r>
          </a:p>
          <a:p>
            <a:r>
              <a:rPr lang="es-CO" sz="2000" dirty="0" smtClean="0"/>
              <a:t>R: Usado para análisis estadístico y visualización de datos.</a:t>
            </a:r>
          </a:p>
          <a:p>
            <a:r>
              <a:rPr lang="es-CO" sz="2000" dirty="0" smtClean="0"/>
              <a:t>Uso de librerías especializadas.</a:t>
            </a:r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03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Proyectos de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Definir objetivo</a:t>
            </a:r>
          </a:p>
          <a:p>
            <a:r>
              <a:rPr lang="es-CO" sz="1800" dirty="0" smtClean="0"/>
              <a:t>Seleccionar las características</a:t>
            </a:r>
          </a:p>
          <a:p>
            <a:r>
              <a:rPr lang="es-CO" sz="1800" dirty="0" smtClean="0"/>
              <a:t>Definir el criterio de evaluación </a:t>
            </a:r>
          </a:p>
          <a:p>
            <a:r>
              <a:rPr lang="es-CO" sz="1800" dirty="0" smtClean="0"/>
              <a:t>Evaluar la situación actual </a:t>
            </a:r>
          </a:p>
          <a:p>
            <a:r>
              <a:rPr lang="es-CO" sz="1800" dirty="0" smtClean="0"/>
              <a:t>Obtener el </a:t>
            </a:r>
            <a:r>
              <a:rPr lang="es-CO" sz="1800" dirty="0" err="1" smtClean="0"/>
              <a:t>dataset</a:t>
            </a:r>
            <a:endParaRPr lang="es-CO" sz="1800" dirty="0"/>
          </a:p>
          <a:p>
            <a:r>
              <a:rPr lang="es-CO" sz="1800" dirty="0" smtClean="0"/>
              <a:t>Seleccionar modelo</a:t>
            </a:r>
          </a:p>
          <a:p>
            <a:r>
              <a:rPr lang="es-CO" sz="1800" dirty="0" smtClean="0"/>
              <a:t>Evaluar y analizar errores</a:t>
            </a:r>
          </a:p>
          <a:p>
            <a:r>
              <a:rPr lang="es-CO" sz="1800" dirty="0" smtClean="0"/>
              <a:t>Aplicar el modelo al objetivo planteado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76469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Proyectos de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06615"/>
            <a:ext cx="6446838" cy="253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9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 Oscura y Sesgos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1800" dirty="0" smtClean="0"/>
              <a:t>Sesgos demográficos y culturales</a:t>
            </a:r>
          </a:p>
          <a:p>
            <a:r>
              <a:rPr lang="es-CO" sz="1800" dirty="0" smtClean="0"/>
              <a:t>Problemas en sistemas de reclutamiento</a:t>
            </a:r>
          </a:p>
          <a:p>
            <a:r>
              <a:rPr lang="es-CO" sz="1800" dirty="0" smtClean="0"/>
              <a:t>Correlación no implica causalidad</a:t>
            </a:r>
          </a:p>
          <a:p>
            <a:r>
              <a:rPr lang="es-CO" sz="1800" dirty="0" smtClean="0"/>
              <a:t>Importancia de la inferencia causal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388967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 Oscura y Sesgos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1800" dirty="0" smtClean="0"/>
              <a:t>Sesgos demográficos y culturales</a:t>
            </a:r>
          </a:p>
          <a:p>
            <a:pPr lvl="1"/>
            <a:r>
              <a:rPr lang="es-CO" sz="1650" dirty="0" smtClean="0"/>
              <a:t>Problemas en sistemas de reclutamiento</a:t>
            </a:r>
          </a:p>
          <a:p>
            <a:r>
              <a:rPr lang="es-CO" sz="1800" dirty="0" smtClean="0"/>
              <a:t>Correlación no implica causalidad</a:t>
            </a:r>
          </a:p>
          <a:p>
            <a:r>
              <a:rPr lang="es-CO" sz="1800" dirty="0" smtClean="0"/>
              <a:t>Importancia de la inferencia causal para comprender relaciones causa-efecto.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200314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1017</TotalTime>
  <Words>832</Words>
  <Application>Microsoft Office PowerPoint</Application>
  <PresentationFormat>Presentación en pantalla (16:9)</PresentationFormat>
  <Paragraphs>151</Paragraphs>
  <Slides>36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1" baseType="lpstr">
      <vt:lpstr>Arial</vt:lpstr>
      <vt:lpstr>Calibri</vt:lpstr>
      <vt:lpstr>Trebuchet MS</vt:lpstr>
      <vt:lpstr>Wingdings 3</vt:lpstr>
      <vt:lpstr>Faceta</vt:lpstr>
      <vt:lpstr>Presentación de PowerPoint</vt:lpstr>
      <vt:lpstr>Introducción</vt:lpstr>
      <vt:lpstr>¿Qué es Machine Learning?</vt:lpstr>
      <vt:lpstr>Programación Tradicional vs. Machine Learning</vt:lpstr>
      <vt:lpstr>Programación Tradicional vs. Machine Learning</vt:lpstr>
      <vt:lpstr>Ejemplo Spam</vt:lpstr>
      <vt:lpstr>Ejemplo Spam</vt:lpstr>
      <vt:lpstr>Programación Tradicional vs ML</vt:lpstr>
      <vt:lpstr>Programación Tradicional vs ML</vt:lpstr>
      <vt:lpstr>Programación Tradicional vs ML</vt:lpstr>
      <vt:lpstr>Programación Tradicional vs ML</vt:lpstr>
      <vt:lpstr>Programación Tradicional vs ML</vt:lpstr>
      <vt:lpstr>¿Por qué usar Machine Learning?</vt:lpstr>
      <vt:lpstr>¿Por qué usar ML?</vt:lpstr>
      <vt:lpstr>Aplicaciones de ML</vt:lpstr>
      <vt:lpstr>Algoritmos de ML</vt:lpstr>
      <vt:lpstr>Tipos de Aprendizaje en ML</vt:lpstr>
      <vt:lpstr>Aprendizaje Supervisado</vt:lpstr>
      <vt:lpstr>Aprendizaje Supervisado</vt:lpstr>
      <vt:lpstr>Aprendizaje No Supervisado</vt:lpstr>
      <vt:lpstr>Aprendizaje No supervisado</vt:lpstr>
      <vt:lpstr>Aprendizaje Semi-supervisado</vt:lpstr>
      <vt:lpstr>Aprendizaje Reforzado</vt:lpstr>
      <vt:lpstr>Aprendizaje Reforzado</vt:lpstr>
      <vt:lpstr>Importancia de los Datos</vt:lpstr>
      <vt:lpstr>Datos en ML</vt:lpstr>
      <vt:lpstr>Datos en ML</vt:lpstr>
      <vt:lpstr>Data Sets en ML</vt:lpstr>
      <vt:lpstr>Conjuntos de Datos en ML</vt:lpstr>
      <vt:lpstr>Conjuntos de Datos en ML</vt:lpstr>
      <vt:lpstr>Lenguajes y Librerías</vt:lpstr>
      <vt:lpstr>Proyectos de ML</vt:lpstr>
      <vt:lpstr>Proyectos de ML</vt:lpstr>
      <vt:lpstr>ML Oscura y Sesgos</vt:lpstr>
      <vt:lpstr>ML Oscura y Sesgos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96</cp:revision>
  <dcterms:created xsi:type="dcterms:W3CDTF">2026-02-02T17:28:11Z</dcterms:created>
  <dcterms:modified xsi:type="dcterms:W3CDTF">2026-03-03T17:57:23Z</dcterms:modified>
</cp:coreProperties>
</file>